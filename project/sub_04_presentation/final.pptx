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715" y="-6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3284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Saqib, presenting our visualization project for team Bounty Hunters. We looked at how the U.S. economy moves — interest rates, unemployment, inflation and consumer sentiment — to answer four questions about how these forces connect.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the FRED Macroeconomic Bundle, from the Federal Reserve Bank of St. Louis — the standard public source for U.S. economic data. Eight monthly series from 2000 to 2026: the Fed Funds Rate, two Treasury yields, inflation, unemployment, the S&amp;P 500, the 30-year mortgage rate, and consumer sentiment. We chose it because it covers a quarter-century with three major crises — the dot-com bust, 2008, and COVID — giving us real events to test against.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four questions. Two descriptive: how interest rates and unemployment relate over time, and whether an inverted yield curve precedes recessions. And two deeper: how a Fed rate change spreads through the economy, and whether consumer sentiment reacts more sharply to bad news than to good. Let me take them in turn.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Fed Funds Rate against unemployment, with recessions shaded. The two move inversely across the cycle — but the striking pattern is the timing: each time the Fed Funds Rate peaks, unemployment peaks about three years later. So the cost of a tightening cycle, rising unemployment, tends to show up years afterward, around recessions.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the yield curve — the gap between the 10-year and 2-year Treasury yields. When it turns negative, the curve is inverted, which historically warns of recession. Our chart detects every inversion automatically, and the two completed cases, in 2000 and 2005 to 2007, each preceded a recession, by 13 and 24 months.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how a Fed rate change transmits to the economy — this heatmap correlates it with four variables, at increasing lags, across three eras. Two findings. First, unemployment: its correlation flips from negative — the Fed reacting to a hot economy — to positive as the hikes bite. That flip takes 36 months before 2008, but only 6 months post-COVID — the same delayed effect from A.1, transmitting much faster in the modern era. Second, inflation shows the clearest mechanism: strongly positive immediately, reversing to negative within about two years as the hikes take hold. Mortgage rates and the stock market stay weak throughout — markets are forward-looking, pricing expectations rather than realized changes.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fourth question is the one we dug into hardest: does sentiment react more sharply to bad news than to good news of the same size — the idea of loss aversion. The hard part is a fair comparison, so we scored every month's conditions, sorted months into four groups by shock size, and within each group compared bad- and good-news months of comparable size. At the largest shocks — Q4, on the right — sentiment reacts more sharply to bad news: a drop of 3.4 versus 2.1 points, and that difference is statistically significant, while the smaller differences are not. That's the honest part: the smaller gaps could be noise, so we don't claim them. The asymmetry is real, but only clearly at the big, crisis-level events — exactly where loss aversion should bite hardest.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it together: rate peaks lead unemployment peaks by about three years. Every yield-curve inversion has preceded a recession. The Fed's influence spreads with a lag, and faster in the modern era. And sentiment punishes bad news more than it rewards good — but only at the largest shocks. The thread through all of it: we tried to show not just where effects exist, but where they don't, letting the data say only what it can support.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our project — team Bounty Hunters. Thanks for watching.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B"/>
        </a:solidFill>
        <a:effectLst/>
      </p:bgPr>
    </p:bg>
    <p:spTree>
      <p:nvGrpSpPr>
        <p:cNvPr id="1" name=""/>
        <p:cNvGrpSpPr/>
        <p:nvPr/>
      </p:nvGrpSpPr>
      <p:grpSpPr>
        <a:xfrm>
          <a:off x="0" y="0"/>
          <a:ext cx="0" cy="0"/>
          <a:chOff x="0" y="0"/>
          <a:chExt cx="0" cy="0"/>
        </a:xfrm>
      </p:grpSpPr>
      <p:sp>
        <p:nvSpPr>
          <p:cNvPr id="2" name="Shape 0"/>
          <p:cNvSpPr/>
          <p:nvPr/>
        </p:nvSpPr>
        <p:spPr>
          <a:xfrm>
            <a:off x="7818120" y="-1005840"/>
            <a:ext cx="2651760" cy="2651760"/>
          </a:xfrm>
          <a:prstGeom prst="ellipse">
            <a:avLst/>
          </a:prstGeom>
          <a:solidFill>
            <a:srgbClr val="1F3252"/>
          </a:solidFill>
          <a:ln/>
        </p:spPr>
      </p:sp>
      <p:pic>
        <p:nvPicPr>
          <p:cNvPr id="3" name="Image 0" descr="preencoded.png"/>
          <p:cNvPicPr>
            <a:picLocks noChangeAspect="1"/>
          </p:cNvPicPr>
          <p:nvPr/>
        </p:nvPicPr>
        <p:blipFill>
          <a:blip r:embed="rId3"/>
          <a:stretch>
            <a:fillRect/>
          </a:stretch>
        </p:blipFill>
        <p:spPr>
          <a:xfrm>
            <a:off x="777240" y="1060704"/>
            <a:ext cx="548640" cy="548640"/>
          </a:xfrm>
          <a:prstGeom prst="rect">
            <a:avLst/>
          </a:prstGeom>
        </p:spPr>
      </p:pic>
      <p:sp>
        <p:nvSpPr>
          <p:cNvPr id="4" name="Text 1"/>
          <p:cNvSpPr/>
          <p:nvPr/>
        </p:nvSpPr>
        <p:spPr>
          <a:xfrm>
            <a:off x="777240" y="1783080"/>
            <a:ext cx="7772400" cy="365760"/>
          </a:xfrm>
          <a:prstGeom prst="rect">
            <a:avLst/>
          </a:prstGeom>
          <a:noFill/>
          <a:ln/>
        </p:spPr>
        <p:txBody>
          <a:bodyPr wrap="square" lIns="0" tIns="0" rIns="0" bIns="0" rtlCol="0" anchor="ctr"/>
          <a:lstStyle/>
          <a:p>
            <a:pPr marL="0" indent="0">
              <a:buNone/>
            </a:pPr>
            <a:r>
              <a:rPr lang="en-US" sz="1300" b="1" kern="0" spc="300" dirty="0">
                <a:solidFill>
                  <a:srgbClr val="E8A33D"/>
                </a:solidFill>
                <a:latin typeface="Calibri" pitchFamily="34" charset="0"/>
                <a:ea typeface="Calibri" pitchFamily="34" charset="-122"/>
                <a:cs typeface="Calibri" pitchFamily="34" charset="-120"/>
              </a:rPr>
              <a:t>VISUALIZATION FOR AI  ·  PROJECT PRESENTATION</a:t>
            </a:r>
            <a:endParaRPr lang="en-US" sz="1300" dirty="0"/>
          </a:p>
        </p:txBody>
      </p:sp>
      <p:sp>
        <p:nvSpPr>
          <p:cNvPr id="5" name="Text 2"/>
          <p:cNvSpPr/>
          <p:nvPr/>
        </p:nvSpPr>
        <p:spPr>
          <a:xfrm>
            <a:off x="731520" y="2148840"/>
            <a:ext cx="786384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Reading the U.S. Economy</a:t>
            </a:r>
            <a:endParaRPr lang="en-US" sz="4600" dirty="0"/>
          </a:p>
        </p:txBody>
      </p:sp>
      <p:sp>
        <p:nvSpPr>
          <p:cNvPr id="6" name="Text 3"/>
          <p:cNvSpPr/>
          <p:nvPr/>
        </p:nvSpPr>
        <p:spPr>
          <a:xfrm>
            <a:off x="777240" y="3200400"/>
            <a:ext cx="7315200" cy="640080"/>
          </a:xfrm>
          <a:prstGeom prst="rect">
            <a:avLst/>
          </a:prstGeom>
          <a:noFill/>
          <a:ln/>
        </p:spPr>
        <p:txBody>
          <a:bodyPr wrap="square" lIns="0" tIns="0" rIns="0" bIns="0" rtlCol="0" anchor="ctr"/>
          <a:lstStyle/>
          <a:p>
            <a:pPr marL="0" indent="0">
              <a:lnSpc>
                <a:spcPct val="105000"/>
              </a:lnSpc>
              <a:buNone/>
            </a:pPr>
            <a:r>
              <a:rPr lang="en-US" sz="1550" dirty="0">
                <a:solidFill>
                  <a:srgbClr val="C7D3E5"/>
                </a:solidFill>
                <a:latin typeface="Calibri" pitchFamily="34" charset="0"/>
                <a:ea typeface="Calibri" pitchFamily="34" charset="-122"/>
                <a:cs typeface="Calibri" pitchFamily="34" charset="-120"/>
              </a:rPr>
              <a:t>Interest rates, unemployment, inflation and sentiment — four questions in 26 years of FRED data</a:t>
            </a:r>
            <a:endParaRPr lang="en-US" sz="1550" dirty="0"/>
          </a:p>
        </p:txBody>
      </p:sp>
      <p:sp>
        <p:nvSpPr>
          <p:cNvPr id="7" name="Text 4"/>
          <p:cNvSpPr/>
          <p:nvPr/>
        </p:nvSpPr>
        <p:spPr>
          <a:xfrm>
            <a:off x="777240" y="4160520"/>
            <a:ext cx="7772400" cy="365760"/>
          </a:xfrm>
          <a:prstGeom prst="rect">
            <a:avLst/>
          </a:prstGeom>
          <a:noFill/>
          <a:ln/>
        </p:spPr>
        <p:txBody>
          <a:bodyPr wrap="square" lIns="0" tIns="0" rIns="0" bIns="0" rtlCol="0" anchor="ctr"/>
          <a:lstStyle/>
          <a:p>
            <a:pPr marL="0" indent="0">
              <a:buNone/>
            </a:pPr>
            <a:r>
              <a:rPr lang="en-US" sz="1400" dirty="0">
                <a:solidFill>
                  <a:srgbClr val="9FB0C9"/>
                </a:solidFill>
                <a:latin typeface="Calibri" pitchFamily="34" charset="0"/>
                <a:ea typeface="Calibri" pitchFamily="34" charset="-122"/>
                <a:cs typeface="Calibri" pitchFamily="34" charset="-120"/>
              </a:rPr>
              <a:t>Team Bounty Hunters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10896"/>
            <a:ext cx="475488" cy="475488"/>
          </a:xfrm>
          <a:prstGeom prst="rect">
            <a:avLst/>
          </a:prstGeom>
        </p:spPr>
      </p:pic>
      <p:sp>
        <p:nvSpPr>
          <p:cNvPr id="3" name="Text 0"/>
          <p:cNvSpPr/>
          <p:nvPr/>
        </p:nvSpPr>
        <p:spPr>
          <a:xfrm>
            <a:off x="1024128" y="292608"/>
            <a:ext cx="7680960" cy="548640"/>
          </a:xfrm>
          <a:prstGeom prst="rect">
            <a:avLst/>
          </a:prstGeom>
          <a:noFill/>
          <a:ln/>
        </p:spPr>
        <p:txBody>
          <a:bodyPr wrap="square" lIns="0" tIns="0" rIns="0" bIns="0" rtlCol="0" anchor="ctr"/>
          <a:lstStyle/>
          <a:p>
            <a:pPr marL="0" indent="0">
              <a:buNone/>
            </a:pPr>
            <a:r>
              <a:rPr lang="en-US" sz="2600" b="1" dirty="0">
                <a:solidFill>
                  <a:srgbClr val="1B2A45"/>
                </a:solidFill>
                <a:latin typeface="Cambria" pitchFamily="34" charset="0"/>
                <a:ea typeface="Cambria" pitchFamily="34" charset="-122"/>
                <a:cs typeface="Cambria" pitchFamily="34" charset="-120"/>
              </a:rPr>
              <a:t>The Data: FRED Macroeconomic Bundle</a:t>
            </a:r>
            <a:endParaRPr lang="en-US" sz="2600" dirty="0"/>
          </a:p>
        </p:txBody>
      </p:sp>
      <p:sp>
        <p:nvSpPr>
          <p:cNvPr id="4" name="Shape 1"/>
          <p:cNvSpPr/>
          <p:nvPr/>
        </p:nvSpPr>
        <p:spPr>
          <a:xfrm>
            <a:off x="457200" y="1097280"/>
            <a:ext cx="2560320" cy="1143000"/>
          </a:xfrm>
          <a:prstGeom prst="roundRect">
            <a:avLst>
              <a:gd name="adj" fmla="val 5600"/>
            </a:avLst>
          </a:prstGeom>
          <a:solidFill>
            <a:srgbClr val="F2F5F9"/>
          </a:solidFill>
          <a:ln w="12700">
            <a:solidFill>
              <a:srgbClr val="DCE3EC"/>
            </a:solidFill>
            <a:prstDash val="solid"/>
          </a:ln>
          <a:effectLst>
            <a:outerShdw blurRad="88900" dist="38100" dir="5400000" algn="bl" rotWithShape="0">
              <a:srgbClr val="000000">
                <a:alpha val="16000"/>
              </a:srgbClr>
            </a:outerShdw>
          </a:effectLst>
        </p:spPr>
      </p:sp>
      <p:sp>
        <p:nvSpPr>
          <p:cNvPr id="5" name="Text 2"/>
          <p:cNvSpPr/>
          <p:nvPr/>
        </p:nvSpPr>
        <p:spPr>
          <a:xfrm>
            <a:off x="457200" y="1225296"/>
            <a:ext cx="2560320" cy="566928"/>
          </a:xfrm>
          <a:prstGeom prst="rect">
            <a:avLst/>
          </a:prstGeom>
          <a:noFill/>
          <a:ln/>
        </p:spPr>
        <p:txBody>
          <a:bodyPr wrap="square" lIns="0" tIns="0" rIns="0" bIns="0" rtlCol="0" anchor="ctr"/>
          <a:lstStyle/>
          <a:p>
            <a:pPr marL="0" indent="0" algn="ctr">
              <a:buNone/>
            </a:pPr>
            <a:r>
              <a:rPr lang="en-US" sz="3300" b="1" dirty="0">
                <a:solidFill>
                  <a:srgbClr val="E8A33D"/>
                </a:solidFill>
                <a:latin typeface="Cambria" pitchFamily="34" charset="0"/>
                <a:ea typeface="Cambria" pitchFamily="34" charset="-122"/>
                <a:cs typeface="Cambria" pitchFamily="34" charset="-120"/>
              </a:rPr>
              <a:t>8</a:t>
            </a:r>
            <a:endParaRPr lang="en-US" sz="3300" dirty="0"/>
          </a:p>
        </p:txBody>
      </p:sp>
      <p:sp>
        <p:nvSpPr>
          <p:cNvPr id="6" name="Text 3"/>
          <p:cNvSpPr/>
          <p:nvPr/>
        </p:nvSpPr>
        <p:spPr>
          <a:xfrm>
            <a:off x="457200" y="1792224"/>
            <a:ext cx="2560320" cy="365760"/>
          </a:xfrm>
          <a:prstGeom prst="rect">
            <a:avLst/>
          </a:prstGeom>
          <a:noFill/>
          <a:ln/>
        </p:spPr>
        <p:txBody>
          <a:bodyPr wrap="square" lIns="0" tIns="0" rIns="0" bIns="0" rtlCol="0" anchor="ctr"/>
          <a:lstStyle/>
          <a:p>
            <a:pPr marL="0" indent="0" algn="ctr">
              <a:buNone/>
            </a:pPr>
            <a:r>
              <a:rPr lang="en-US" sz="1250" dirty="0">
                <a:solidFill>
                  <a:srgbClr val="5B6B82"/>
                </a:solidFill>
                <a:latin typeface="Calibri" pitchFamily="34" charset="0"/>
                <a:ea typeface="Calibri" pitchFamily="34" charset="-122"/>
                <a:cs typeface="Calibri" pitchFamily="34" charset="-120"/>
              </a:rPr>
              <a:t>economic indicators</a:t>
            </a:r>
            <a:endParaRPr lang="en-US" sz="1250" dirty="0"/>
          </a:p>
        </p:txBody>
      </p:sp>
      <p:sp>
        <p:nvSpPr>
          <p:cNvPr id="7" name="Shape 4"/>
          <p:cNvSpPr/>
          <p:nvPr/>
        </p:nvSpPr>
        <p:spPr>
          <a:xfrm>
            <a:off x="3246120" y="1097280"/>
            <a:ext cx="2560320" cy="1143000"/>
          </a:xfrm>
          <a:prstGeom prst="roundRect">
            <a:avLst>
              <a:gd name="adj" fmla="val 5600"/>
            </a:avLst>
          </a:prstGeom>
          <a:solidFill>
            <a:srgbClr val="F2F5F9"/>
          </a:solidFill>
          <a:ln w="12700">
            <a:solidFill>
              <a:srgbClr val="DCE3EC"/>
            </a:solidFill>
            <a:prstDash val="solid"/>
          </a:ln>
          <a:effectLst>
            <a:outerShdw blurRad="88900" dist="38100" dir="5400000" algn="bl" rotWithShape="0">
              <a:srgbClr val="000000">
                <a:alpha val="16000"/>
              </a:srgbClr>
            </a:outerShdw>
          </a:effectLst>
        </p:spPr>
      </p:sp>
      <p:sp>
        <p:nvSpPr>
          <p:cNvPr id="8" name="Text 5"/>
          <p:cNvSpPr/>
          <p:nvPr/>
        </p:nvSpPr>
        <p:spPr>
          <a:xfrm>
            <a:off x="3246120" y="1225296"/>
            <a:ext cx="2560320" cy="566928"/>
          </a:xfrm>
          <a:prstGeom prst="rect">
            <a:avLst/>
          </a:prstGeom>
          <a:noFill/>
          <a:ln/>
        </p:spPr>
        <p:txBody>
          <a:bodyPr wrap="square" lIns="0" tIns="0" rIns="0" bIns="0" rtlCol="0" anchor="ctr"/>
          <a:lstStyle/>
          <a:p>
            <a:pPr marL="0" indent="0" algn="ctr">
              <a:buNone/>
            </a:pPr>
            <a:r>
              <a:rPr lang="en-US" sz="2600" b="1" dirty="0">
                <a:solidFill>
                  <a:srgbClr val="E8A33D"/>
                </a:solidFill>
                <a:latin typeface="Cambria" pitchFamily="34" charset="0"/>
                <a:ea typeface="Cambria" pitchFamily="34" charset="-122"/>
                <a:cs typeface="Cambria" pitchFamily="34" charset="-120"/>
              </a:rPr>
              <a:t>2000–2026</a:t>
            </a:r>
            <a:endParaRPr lang="en-US" sz="2600" dirty="0"/>
          </a:p>
        </p:txBody>
      </p:sp>
      <p:sp>
        <p:nvSpPr>
          <p:cNvPr id="9" name="Text 6"/>
          <p:cNvSpPr/>
          <p:nvPr/>
        </p:nvSpPr>
        <p:spPr>
          <a:xfrm>
            <a:off x="3246120" y="1792224"/>
            <a:ext cx="2560320" cy="365760"/>
          </a:xfrm>
          <a:prstGeom prst="rect">
            <a:avLst/>
          </a:prstGeom>
          <a:noFill/>
          <a:ln/>
        </p:spPr>
        <p:txBody>
          <a:bodyPr wrap="square" lIns="0" tIns="0" rIns="0" bIns="0" rtlCol="0" anchor="ctr"/>
          <a:lstStyle/>
          <a:p>
            <a:pPr marL="0" indent="0" algn="ctr">
              <a:buNone/>
            </a:pPr>
            <a:r>
              <a:rPr lang="en-US" sz="1250" dirty="0">
                <a:solidFill>
                  <a:srgbClr val="5B6B82"/>
                </a:solidFill>
                <a:latin typeface="Calibri" pitchFamily="34" charset="0"/>
                <a:ea typeface="Calibri" pitchFamily="34" charset="-122"/>
                <a:cs typeface="Calibri" pitchFamily="34" charset="-120"/>
              </a:rPr>
              <a:t>monthly observations</a:t>
            </a:r>
            <a:endParaRPr lang="en-US" sz="1250" dirty="0"/>
          </a:p>
        </p:txBody>
      </p:sp>
      <p:sp>
        <p:nvSpPr>
          <p:cNvPr id="10" name="Shape 7"/>
          <p:cNvSpPr/>
          <p:nvPr/>
        </p:nvSpPr>
        <p:spPr>
          <a:xfrm>
            <a:off x="6035040" y="1097280"/>
            <a:ext cx="2560320" cy="1143000"/>
          </a:xfrm>
          <a:prstGeom prst="roundRect">
            <a:avLst>
              <a:gd name="adj" fmla="val 5600"/>
            </a:avLst>
          </a:prstGeom>
          <a:solidFill>
            <a:srgbClr val="F2F5F9"/>
          </a:solidFill>
          <a:ln w="12700">
            <a:solidFill>
              <a:srgbClr val="DCE3EC"/>
            </a:solidFill>
            <a:prstDash val="solid"/>
          </a:ln>
          <a:effectLst>
            <a:outerShdw blurRad="88900" dist="38100" dir="5400000" algn="bl" rotWithShape="0">
              <a:srgbClr val="000000">
                <a:alpha val="16000"/>
              </a:srgbClr>
            </a:outerShdw>
          </a:effectLst>
        </p:spPr>
      </p:sp>
      <p:sp>
        <p:nvSpPr>
          <p:cNvPr id="11" name="Text 8"/>
          <p:cNvSpPr/>
          <p:nvPr/>
        </p:nvSpPr>
        <p:spPr>
          <a:xfrm>
            <a:off x="6035040" y="1225296"/>
            <a:ext cx="2560320" cy="566928"/>
          </a:xfrm>
          <a:prstGeom prst="rect">
            <a:avLst/>
          </a:prstGeom>
          <a:noFill/>
          <a:ln/>
        </p:spPr>
        <p:txBody>
          <a:bodyPr wrap="square" lIns="0" tIns="0" rIns="0" bIns="0" rtlCol="0" anchor="ctr"/>
          <a:lstStyle/>
          <a:p>
            <a:pPr marL="0" indent="0" algn="ctr">
              <a:buNone/>
            </a:pPr>
            <a:r>
              <a:rPr lang="en-US" sz="3300" b="1" dirty="0">
                <a:solidFill>
                  <a:srgbClr val="E8A33D"/>
                </a:solidFill>
                <a:latin typeface="Cambria" pitchFamily="34" charset="0"/>
                <a:ea typeface="Cambria" pitchFamily="34" charset="-122"/>
                <a:cs typeface="Cambria" pitchFamily="34" charset="-120"/>
              </a:rPr>
              <a:t>3</a:t>
            </a:r>
            <a:endParaRPr lang="en-US" sz="3300" dirty="0"/>
          </a:p>
        </p:txBody>
      </p:sp>
      <p:sp>
        <p:nvSpPr>
          <p:cNvPr id="12" name="Text 9"/>
          <p:cNvSpPr/>
          <p:nvPr/>
        </p:nvSpPr>
        <p:spPr>
          <a:xfrm>
            <a:off x="6035040" y="1792224"/>
            <a:ext cx="2560320" cy="365760"/>
          </a:xfrm>
          <a:prstGeom prst="rect">
            <a:avLst/>
          </a:prstGeom>
          <a:noFill/>
          <a:ln/>
        </p:spPr>
        <p:txBody>
          <a:bodyPr wrap="square" lIns="0" tIns="0" rIns="0" bIns="0" rtlCol="0" anchor="ctr"/>
          <a:lstStyle/>
          <a:p>
            <a:pPr marL="0" indent="0" algn="ctr">
              <a:buNone/>
            </a:pPr>
            <a:r>
              <a:rPr lang="en-US" sz="1250" dirty="0">
                <a:solidFill>
                  <a:srgbClr val="5B6B82"/>
                </a:solidFill>
                <a:latin typeface="Calibri" pitchFamily="34" charset="0"/>
                <a:ea typeface="Calibri" pitchFamily="34" charset="-122"/>
                <a:cs typeface="Calibri" pitchFamily="34" charset="-120"/>
              </a:rPr>
              <a:t>major crises covered</a:t>
            </a:r>
            <a:endParaRPr lang="en-US" sz="1250" dirty="0"/>
          </a:p>
        </p:txBody>
      </p:sp>
      <p:sp>
        <p:nvSpPr>
          <p:cNvPr id="13" name="Text 10"/>
          <p:cNvSpPr/>
          <p:nvPr/>
        </p:nvSpPr>
        <p:spPr>
          <a:xfrm>
            <a:off x="457200" y="2542032"/>
            <a:ext cx="4572000" cy="320040"/>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What it is</a:t>
            </a:r>
            <a:endParaRPr lang="en-US" sz="1300" dirty="0"/>
          </a:p>
        </p:txBody>
      </p:sp>
      <p:sp>
        <p:nvSpPr>
          <p:cNvPr id="14" name="Text 11"/>
          <p:cNvSpPr/>
          <p:nvPr/>
        </p:nvSpPr>
        <p:spPr>
          <a:xfrm>
            <a:off x="457200" y="2852928"/>
            <a:ext cx="4617720" cy="1005840"/>
          </a:xfrm>
          <a:prstGeom prst="rect">
            <a:avLst/>
          </a:prstGeom>
          <a:noFill/>
          <a:ln/>
        </p:spPr>
        <p:txBody>
          <a:bodyPr wrap="square" lIns="0" tIns="0" rIns="0" bIns="0" rtlCol="0" anchor="t"/>
          <a:lstStyle/>
          <a:p>
            <a:pPr marL="0" indent="0">
              <a:lnSpc>
                <a:spcPct val="108000"/>
              </a:lnSpc>
              <a:buNone/>
            </a:pPr>
            <a:r>
              <a:rPr lang="en-US" sz="1350" dirty="0">
                <a:solidFill>
                  <a:srgbClr val="1B2A45"/>
                </a:solidFill>
                <a:latin typeface="Calibri" pitchFamily="34" charset="0"/>
                <a:ea typeface="Calibri" pitchFamily="34" charset="-122"/>
                <a:cs typeface="Calibri" pitchFamily="34" charset="-120"/>
              </a:rPr>
              <a:t>Eight U.S. economic time series from the Federal Reserve Bank of St. Louis (FRED) — the standard public source for macroeconomic data — sampled monthly from 2000 to 2026.</a:t>
            </a:r>
            <a:endParaRPr lang="en-US" sz="1350" dirty="0"/>
          </a:p>
        </p:txBody>
      </p:sp>
      <p:sp>
        <p:nvSpPr>
          <p:cNvPr id="15" name="Text 12"/>
          <p:cNvSpPr/>
          <p:nvPr/>
        </p:nvSpPr>
        <p:spPr>
          <a:xfrm>
            <a:off x="457200" y="3886200"/>
            <a:ext cx="4572000" cy="320040"/>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Why we chose it</a:t>
            </a:r>
            <a:endParaRPr lang="en-US" sz="1300" dirty="0"/>
          </a:p>
        </p:txBody>
      </p:sp>
      <p:sp>
        <p:nvSpPr>
          <p:cNvPr id="16" name="Text 13"/>
          <p:cNvSpPr/>
          <p:nvPr/>
        </p:nvSpPr>
        <p:spPr>
          <a:xfrm>
            <a:off x="457200" y="4187952"/>
            <a:ext cx="4617720" cy="777240"/>
          </a:xfrm>
          <a:prstGeom prst="rect">
            <a:avLst/>
          </a:prstGeom>
          <a:noFill/>
          <a:ln/>
        </p:spPr>
        <p:txBody>
          <a:bodyPr wrap="square" lIns="0" tIns="0" rIns="0" bIns="0" rtlCol="0" anchor="t"/>
          <a:lstStyle/>
          <a:p>
            <a:pPr marL="0" indent="0">
              <a:lnSpc>
                <a:spcPct val="108000"/>
              </a:lnSpc>
              <a:buNone/>
            </a:pPr>
            <a:r>
              <a:rPr lang="en-US" sz="1350" dirty="0">
                <a:solidFill>
                  <a:srgbClr val="1B2A45"/>
                </a:solidFill>
                <a:latin typeface="Calibri" pitchFamily="34" charset="0"/>
                <a:ea typeface="Calibri" pitchFamily="34" charset="-122"/>
                <a:cs typeface="Calibri" pitchFamily="34" charset="-120"/>
              </a:rPr>
              <a:t>A quarter-century spanning the dot-com bust, 2008, and COVID — real, dramatic events to test our hypotheses against, not quiet noise.</a:t>
            </a:r>
            <a:endParaRPr lang="en-US" sz="1350" dirty="0"/>
          </a:p>
        </p:txBody>
      </p:sp>
      <p:sp>
        <p:nvSpPr>
          <p:cNvPr id="17" name="Text 14"/>
          <p:cNvSpPr/>
          <p:nvPr/>
        </p:nvSpPr>
        <p:spPr>
          <a:xfrm>
            <a:off x="5349240" y="2542032"/>
            <a:ext cx="3337560" cy="320040"/>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The eight series</a:t>
            </a:r>
            <a:endParaRPr lang="en-US" sz="1300" dirty="0"/>
          </a:p>
        </p:txBody>
      </p:sp>
      <p:sp>
        <p:nvSpPr>
          <p:cNvPr id="18" name="Shape 15"/>
          <p:cNvSpPr/>
          <p:nvPr/>
        </p:nvSpPr>
        <p:spPr>
          <a:xfrm>
            <a:off x="5349240" y="2907792"/>
            <a:ext cx="1581912" cy="420624"/>
          </a:xfrm>
          <a:prstGeom prst="roundRect">
            <a:avLst>
              <a:gd name="adj" fmla="val 15217"/>
            </a:avLst>
          </a:prstGeom>
          <a:solidFill>
            <a:srgbClr val="15233B"/>
          </a:solidFill>
          <a:ln/>
        </p:spPr>
      </p:sp>
      <p:sp>
        <p:nvSpPr>
          <p:cNvPr id="19" name="Text 16"/>
          <p:cNvSpPr/>
          <p:nvPr/>
        </p:nvSpPr>
        <p:spPr>
          <a:xfrm>
            <a:off x="5367528" y="2907792"/>
            <a:ext cx="1545336"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Fed Funds Rate</a:t>
            </a:r>
            <a:endParaRPr lang="en-US" sz="1050" dirty="0"/>
          </a:p>
        </p:txBody>
      </p:sp>
      <p:sp>
        <p:nvSpPr>
          <p:cNvPr id="20" name="Shape 17"/>
          <p:cNvSpPr/>
          <p:nvPr/>
        </p:nvSpPr>
        <p:spPr>
          <a:xfrm>
            <a:off x="7022592" y="2907792"/>
            <a:ext cx="1581912" cy="420624"/>
          </a:xfrm>
          <a:prstGeom prst="roundRect">
            <a:avLst>
              <a:gd name="adj" fmla="val 15217"/>
            </a:avLst>
          </a:prstGeom>
          <a:solidFill>
            <a:srgbClr val="15233B"/>
          </a:solidFill>
          <a:ln/>
        </p:spPr>
      </p:sp>
      <p:sp>
        <p:nvSpPr>
          <p:cNvPr id="21" name="Text 18"/>
          <p:cNvSpPr/>
          <p:nvPr/>
        </p:nvSpPr>
        <p:spPr>
          <a:xfrm>
            <a:off x="7040880" y="2907792"/>
            <a:ext cx="1545336"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10-Yr Treasury</a:t>
            </a:r>
            <a:endParaRPr lang="en-US" sz="1050" dirty="0"/>
          </a:p>
        </p:txBody>
      </p:sp>
      <p:sp>
        <p:nvSpPr>
          <p:cNvPr id="22" name="Shape 19"/>
          <p:cNvSpPr/>
          <p:nvPr/>
        </p:nvSpPr>
        <p:spPr>
          <a:xfrm>
            <a:off x="5349240" y="3419856"/>
            <a:ext cx="1581912" cy="420624"/>
          </a:xfrm>
          <a:prstGeom prst="roundRect">
            <a:avLst>
              <a:gd name="adj" fmla="val 15217"/>
            </a:avLst>
          </a:prstGeom>
          <a:solidFill>
            <a:srgbClr val="15233B"/>
          </a:solidFill>
          <a:ln/>
        </p:spPr>
      </p:sp>
      <p:sp>
        <p:nvSpPr>
          <p:cNvPr id="23" name="Text 20"/>
          <p:cNvSpPr/>
          <p:nvPr/>
        </p:nvSpPr>
        <p:spPr>
          <a:xfrm>
            <a:off x="5367528" y="3419856"/>
            <a:ext cx="1545336"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2-Yr Treasury</a:t>
            </a:r>
            <a:endParaRPr lang="en-US" sz="1050" dirty="0"/>
          </a:p>
        </p:txBody>
      </p:sp>
      <p:sp>
        <p:nvSpPr>
          <p:cNvPr id="24" name="Shape 21"/>
          <p:cNvSpPr/>
          <p:nvPr/>
        </p:nvSpPr>
        <p:spPr>
          <a:xfrm>
            <a:off x="7022592" y="3419856"/>
            <a:ext cx="1581912" cy="420624"/>
          </a:xfrm>
          <a:prstGeom prst="roundRect">
            <a:avLst>
              <a:gd name="adj" fmla="val 15217"/>
            </a:avLst>
          </a:prstGeom>
          <a:solidFill>
            <a:srgbClr val="15233B"/>
          </a:solidFill>
          <a:ln/>
        </p:spPr>
      </p:sp>
      <p:sp>
        <p:nvSpPr>
          <p:cNvPr id="25" name="Text 22"/>
          <p:cNvSpPr/>
          <p:nvPr/>
        </p:nvSpPr>
        <p:spPr>
          <a:xfrm>
            <a:off x="7040880" y="3419856"/>
            <a:ext cx="1545336"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Inflation (CPI)</a:t>
            </a:r>
            <a:endParaRPr lang="en-US" sz="1050" dirty="0"/>
          </a:p>
        </p:txBody>
      </p:sp>
      <p:sp>
        <p:nvSpPr>
          <p:cNvPr id="26" name="Shape 23"/>
          <p:cNvSpPr/>
          <p:nvPr/>
        </p:nvSpPr>
        <p:spPr>
          <a:xfrm>
            <a:off x="5349240" y="3931920"/>
            <a:ext cx="1581912" cy="420624"/>
          </a:xfrm>
          <a:prstGeom prst="roundRect">
            <a:avLst>
              <a:gd name="adj" fmla="val 15217"/>
            </a:avLst>
          </a:prstGeom>
          <a:solidFill>
            <a:srgbClr val="15233B"/>
          </a:solidFill>
          <a:ln/>
        </p:spPr>
      </p:sp>
      <p:sp>
        <p:nvSpPr>
          <p:cNvPr id="27" name="Text 24"/>
          <p:cNvSpPr/>
          <p:nvPr/>
        </p:nvSpPr>
        <p:spPr>
          <a:xfrm>
            <a:off x="5367528" y="3931920"/>
            <a:ext cx="1545336"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Unemployment</a:t>
            </a:r>
            <a:endParaRPr lang="en-US" sz="1050" dirty="0"/>
          </a:p>
        </p:txBody>
      </p:sp>
      <p:sp>
        <p:nvSpPr>
          <p:cNvPr id="28" name="Shape 25"/>
          <p:cNvSpPr/>
          <p:nvPr/>
        </p:nvSpPr>
        <p:spPr>
          <a:xfrm>
            <a:off x="7022592" y="3931920"/>
            <a:ext cx="1581912" cy="420624"/>
          </a:xfrm>
          <a:prstGeom prst="roundRect">
            <a:avLst>
              <a:gd name="adj" fmla="val 15217"/>
            </a:avLst>
          </a:prstGeom>
          <a:solidFill>
            <a:srgbClr val="15233B"/>
          </a:solidFill>
          <a:ln/>
        </p:spPr>
      </p:sp>
      <p:sp>
        <p:nvSpPr>
          <p:cNvPr id="29" name="Text 26"/>
          <p:cNvSpPr/>
          <p:nvPr/>
        </p:nvSpPr>
        <p:spPr>
          <a:xfrm>
            <a:off x="7040880" y="3931920"/>
            <a:ext cx="1545336"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S&amp;P 500</a:t>
            </a:r>
            <a:endParaRPr lang="en-US" sz="1050" dirty="0"/>
          </a:p>
        </p:txBody>
      </p:sp>
      <p:sp>
        <p:nvSpPr>
          <p:cNvPr id="30" name="Shape 27"/>
          <p:cNvSpPr/>
          <p:nvPr/>
        </p:nvSpPr>
        <p:spPr>
          <a:xfrm>
            <a:off x="5349240" y="4443984"/>
            <a:ext cx="1581912" cy="420624"/>
          </a:xfrm>
          <a:prstGeom prst="roundRect">
            <a:avLst>
              <a:gd name="adj" fmla="val 15217"/>
            </a:avLst>
          </a:prstGeom>
          <a:solidFill>
            <a:srgbClr val="15233B"/>
          </a:solidFill>
          <a:ln/>
        </p:spPr>
      </p:sp>
      <p:sp>
        <p:nvSpPr>
          <p:cNvPr id="31" name="Text 28"/>
          <p:cNvSpPr/>
          <p:nvPr/>
        </p:nvSpPr>
        <p:spPr>
          <a:xfrm>
            <a:off x="5367528" y="4443984"/>
            <a:ext cx="1545336"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30-Yr Mortgage</a:t>
            </a:r>
            <a:endParaRPr lang="en-US" sz="1050" dirty="0"/>
          </a:p>
        </p:txBody>
      </p:sp>
      <p:sp>
        <p:nvSpPr>
          <p:cNvPr id="32" name="Shape 29"/>
          <p:cNvSpPr/>
          <p:nvPr/>
        </p:nvSpPr>
        <p:spPr>
          <a:xfrm>
            <a:off x="7022592" y="4443984"/>
            <a:ext cx="1581912" cy="420624"/>
          </a:xfrm>
          <a:prstGeom prst="roundRect">
            <a:avLst>
              <a:gd name="adj" fmla="val 15217"/>
            </a:avLst>
          </a:prstGeom>
          <a:solidFill>
            <a:srgbClr val="15233B"/>
          </a:solidFill>
          <a:ln/>
        </p:spPr>
      </p:sp>
      <p:sp>
        <p:nvSpPr>
          <p:cNvPr id="33" name="Text 30"/>
          <p:cNvSpPr/>
          <p:nvPr/>
        </p:nvSpPr>
        <p:spPr>
          <a:xfrm>
            <a:off x="7040880" y="4443984"/>
            <a:ext cx="1545336" cy="420624"/>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Consumer Sentiment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233B"/>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Four Questions</a:t>
            </a:r>
            <a:endParaRPr lang="en-US" sz="3000" dirty="0"/>
          </a:p>
        </p:txBody>
      </p:sp>
      <p:sp>
        <p:nvSpPr>
          <p:cNvPr id="3" name="Text 1"/>
          <p:cNvSpPr/>
          <p:nvPr/>
        </p:nvSpPr>
        <p:spPr>
          <a:xfrm>
            <a:off x="475488" y="987552"/>
            <a:ext cx="8229600" cy="365760"/>
          </a:xfrm>
          <a:prstGeom prst="rect">
            <a:avLst/>
          </a:prstGeom>
          <a:noFill/>
          <a:ln/>
        </p:spPr>
        <p:txBody>
          <a:bodyPr wrap="square" lIns="0" tIns="0" rIns="0" bIns="0" rtlCol="0" anchor="ctr"/>
          <a:lstStyle/>
          <a:p>
            <a:pPr marL="0" indent="0">
              <a:buNone/>
            </a:pPr>
            <a:r>
              <a:rPr lang="en-US" sz="1400" dirty="0">
                <a:solidFill>
                  <a:srgbClr val="9FB0C9"/>
                </a:solidFill>
                <a:latin typeface="Calibri" pitchFamily="34" charset="0"/>
                <a:ea typeface="Calibri" pitchFamily="34" charset="-122"/>
                <a:cs typeface="Calibri" pitchFamily="34" charset="-120"/>
              </a:rPr>
              <a:t>Two descriptive, two we dug into deeper</a:t>
            </a:r>
            <a:endParaRPr lang="en-US" sz="1400" dirty="0"/>
          </a:p>
        </p:txBody>
      </p:sp>
      <p:sp>
        <p:nvSpPr>
          <p:cNvPr id="4" name="Shape 2"/>
          <p:cNvSpPr/>
          <p:nvPr/>
        </p:nvSpPr>
        <p:spPr>
          <a:xfrm>
            <a:off x="457200" y="1508760"/>
            <a:ext cx="4023360" cy="1463040"/>
          </a:xfrm>
          <a:prstGeom prst="roundRect">
            <a:avLst>
              <a:gd name="adj" fmla="val 5000"/>
            </a:avLst>
          </a:prstGeom>
          <a:solidFill>
            <a:srgbClr val="1F3252"/>
          </a:solidFill>
          <a:ln/>
          <a:effectLst>
            <a:outerShdw blurRad="88900" dist="38100" dir="5400000" algn="bl" rotWithShape="0">
              <a:srgbClr val="000000">
                <a:alpha val="16000"/>
              </a:srgbClr>
            </a:outerShdw>
          </a:effectLst>
        </p:spPr>
      </p:sp>
      <p:pic>
        <p:nvPicPr>
          <p:cNvPr id="5" name="Image 0" descr="preencoded.png"/>
          <p:cNvPicPr>
            <a:picLocks noChangeAspect="1"/>
          </p:cNvPicPr>
          <p:nvPr/>
        </p:nvPicPr>
        <p:blipFill>
          <a:blip r:embed="rId3"/>
          <a:stretch>
            <a:fillRect/>
          </a:stretch>
        </p:blipFill>
        <p:spPr>
          <a:xfrm>
            <a:off x="731520" y="1801368"/>
            <a:ext cx="475488" cy="475488"/>
          </a:xfrm>
          <a:prstGeom prst="rect">
            <a:avLst/>
          </a:prstGeom>
        </p:spPr>
      </p:pic>
      <p:sp>
        <p:nvSpPr>
          <p:cNvPr id="6" name="Text 3"/>
          <p:cNvSpPr/>
          <p:nvPr/>
        </p:nvSpPr>
        <p:spPr>
          <a:xfrm>
            <a:off x="1325880" y="1764792"/>
            <a:ext cx="2926080" cy="457200"/>
          </a:xfrm>
          <a:prstGeom prst="rect">
            <a:avLst/>
          </a:prstGeom>
          <a:noFill/>
          <a:ln/>
        </p:spPr>
        <p:txBody>
          <a:bodyPr wrap="square" lIns="0" tIns="0" rIns="0" bIns="0" rtlCol="0" anchor="ctr"/>
          <a:lstStyle/>
          <a:p>
            <a:pPr marL="0" indent="0">
              <a:buNone/>
            </a:pPr>
            <a:r>
              <a:rPr lang="en-US" sz="2000" b="1" dirty="0">
                <a:solidFill>
                  <a:srgbClr val="E8A33D"/>
                </a:solidFill>
                <a:latin typeface="Cambria" pitchFamily="34" charset="0"/>
                <a:ea typeface="Cambria" pitchFamily="34" charset="-122"/>
                <a:cs typeface="Cambria" pitchFamily="34" charset="-120"/>
              </a:rPr>
              <a:t>A.1</a:t>
            </a:r>
            <a:endParaRPr lang="en-US" sz="2000" dirty="0"/>
          </a:p>
        </p:txBody>
      </p:sp>
      <p:sp>
        <p:nvSpPr>
          <p:cNvPr id="7" name="Text 4"/>
          <p:cNvSpPr/>
          <p:nvPr/>
        </p:nvSpPr>
        <p:spPr>
          <a:xfrm>
            <a:off x="749808" y="2350008"/>
            <a:ext cx="3456432" cy="548640"/>
          </a:xfrm>
          <a:prstGeom prst="rect">
            <a:avLst/>
          </a:prstGeom>
          <a:noFill/>
          <a:ln/>
        </p:spPr>
        <p:txBody>
          <a:bodyPr wrap="square" lIns="0" tIns="0" rIns="0" bIns="0" rtlCol="0" anchor="t"/>
          <a:lstStyle/>
          <a:p>
            <a:pPr marL="0" indent="0">
              <a:lnSpc>
                <a:spcPct val="103000"/>
              </a:lnSpc>
              <a:buNone/>
            </a:pPr>
            <a:r>
              <a:rPr lang="en-US" sz="1350" dirty="0">
                <a:solidFill>
                  <a:srgbClr val="DBE4F0"/>
                </a:solidFill>
                <a:latin typeface="Calibri" pitchFamily="34" charset="0"/>
                <a:ea typeface="Calibri" pitchFamily="34" charset="-122"/>
                <a:cs typeface="Calibri" pitchFamily="34" charset="-120"/>
              </a:rPr>
              <a:t>How do interest rates and unemployment relate over time?</a:t>
            </a:r>
            <a:endParaRPr lang="en-US" sz="1350" dirty="0"/>
          </a:p>
        </p:txBody>
      </p:sp>
      <p:sp>
        <p:nvSpPr>
          <p:cNvPr id="8" name="Shape 5"/>
          <p:cNvSpPr/>
          <p:nvPr/>
        </p:nvSpPr>
        <p:spPr>
          <a:xfrm>
            <a:off x="4663440" y="1508760"/>
            <a:ext cx="4023360" cy="1463040"/>
          </a:xfrm>
          <a:prstGeom prst="roundRect">
            <a:avLst>
              <a:gd name="adj" fmla="val 5000"/>
            </a:avLst>
          </a:prstGeom>
          <a:solidFill>
            <a:srgbClr val="1F3252"/>
          </a:solidFill>
          <a:ln/>
          <a:effectLst>
            <a:outerShdw blurRad="88900" dist="38100" dir="5400000" algn="bl" rotWithShape="0">
              <a:srgbClr val="000000">
                <a:alpha val="16000"/>
              </a:srgbClr>
            </a:outerShdw>
          </a:effectLst>
        </p:spPr>
      </p:sp>
      <p:pic>
        <p:nvPicPr>
          <p:cNvPr id="9" name="Image 1" descr="preencoded.png"/>
          <p:cNvPicPr>
            <a:picLocks noChangeAspect="1"/>
          </p:cNvPicPr>
          <p:nvPr/>
        </p:nvPicPr>
        <p:blipFill>
          <a:blip r:embed="rId4"/>
          <a:stretch>
            <a:fillRect/>
          </a:stretch>
        </p:blipFill>
        <p:spPr>
          <a:xfrm>
            <a:off x="4937760" y="1801368"/>
            <a:ext cx="475488" cy="475488"/>
          </a:xfrm>
          <a:prstGeom prst="rect">
            <a:avLst/>
          </a:prstGeom>
        </p:spPr>
      </p:pic>
      <p:sp>
        <p:nvSpPr>
          <p:cNvPr id="10" name="Text 6"/>
          <p:cNvSpPr/>
          <p:nvPr/>
        </p:nvSpPr>
        <p:spPr>
          <a:xfrm>
            <a:off x="5532120" y="1764792"/>
            <a:ext cx="2926080" cy="457200"/>
          </a:xfrm>
          <a:prstGeom prst="rect">
            <a:avLst/>
          </a:prstGeom>
          <a:noFill/>
          <a:ln/>
        </p:spPr>
        <p:txBody>
          <a:bodyPr wrap="square" lIns="0" tIns="0" rIns="0" bIns="0" rtlCol="0" anchor="ctr"/>
          <a:lstStyle/>
          <a:p>
            <a:pPr marL="0" indent="0">
              <a:buNone/>
            </a:pPr>
            <a:r>
              <a:rPr lang="en-US" sz="2000" b="1" dirty="0">
                <a:solidFill>
                  <a:srgbClr val="E8A33D"/>
                </a:solidFill>
                <a:latin typeface="Cambria" pitchFamily="34" charset="0"/>
                <a:ea typeface="Cambria" pitchFamily="34" charset="-122"/>
                <a:cs typeface="Cambria" pitchFamily="34" charset="-120"/>
              </a:rPr>
              <a:t>A.2</a:t>
            </a:r>
            <a:endParaRPr lang="en-US" sz="2000" dirty="0"/>
          </a:p>
        </p:txBody>
      </p:sp>
      <p:sp>
        <p:nvSpPr>
          <p:cNvPr id="11" name="Text 7"/>
          <p:cNvSpPr/>
          <p:nvPr/>
        </p:nvSpPr>
        <p:spPr>
          <a:xfrm>
            <a:off x="4956048" y="2350008"/>
            <a:ext cx="3456432" cy="548640"/>
          </a:xfrm>
          <a:prstGeom prst="rect">
            <a:avLst/>
          </a:prstGeom>
          <a:noFill/>
          <a:ln/>
        </p:spPr>
        <p:txBody>
          <a:bodyPr wrap="square" lIns="0" tIns="0" rIns="0" bIns="0" rtlCol="0" anchor="t"/>
          <a:lstStyle/>
          <a:p>
            <a:pPr marL="0" indent="0">
              <a:lnSpc>
                <a:spcPct val="103000"/>
              </a:lnSpc>
              <a:buNone/>
            </a:pPr>
            <a:r>
              <a:rPr lang="en-US" sz="1350" dirty="0">
                <a:solidFill>
                  <a:srgbClr val="DBE4F0"/>
                </a:solidFill>
                <a:latin typeface="Calibri" pitchFamily="34" charset="0"/>
                <a:ea typeface="Calibri" pitchFamily="34" charset="-122"/>
                <a:cs typeface="Calibri" pitchFamily="34" charset="-120"/>
              </a:rPr>
              <a:t>Does an inverted yield curve precede recessions?</a:t>
            </a:r>
            <a:endParaRPr lang="en-US" sz="1350" dirty="0"/>
          </a:p>
        </p:txBody>
      </p:sp>
      <p:sp>
        <p:nvSpPr>
          <p:cNvPr id="12" name="Shape 8"/>
          <p:cNvSpPr/>
          <p:nvPr/>
        </p:nvSpPr>
        <p:spPr>
          <a:xfrm>
            <a:off x="457200" y="3136392"/>
            <a:ext cx="4023360" cy="1463040"/>
          </a:xfrm>
          <a:prstGeom prst="roundRect">
            <a:avLst>
              <a:gd name="adj" fmla="val 5000"/>
            </a:avLst>
          </a:prstGeom>
          <a:solidFill>
            <a:srgbClr val="1F3252"/>
          </a:solidFill>
          <a:ln/>
          <a:effectLst>
            <a:outerShdw blurRad="88900" dist="38100" dir="5400000" algn="bl" rotWithShape="0">
              <a:srgbClr val="000000">
                <a:alpha val="16000"/>
              </a:srgbClr>
            </a:outerShdw>
          </a:effectLst>
        </p:spPr>
      </p:sp>
      <p:pic>
        <p:nvPicPr>
          <p:cNvPr id="13" name="Image 2" descr="preencoded.png"/>
          <p:cNvPicPr>
            <a:picLocks noChangeAspect="1"/>
          </p:cNvPicPr>
          <p:nvPr/>
        </p:nvPicPr>
        <p:blipFill>
          <a:blip r:embed="rId5"/>
          <a:stretch>
            <a:fillRect/>
          </a:stretch>
        </p:blipFill>
        <p:spPr>
          <a:xfrm>
            <a:off x="731520" y="3429000"/>
            <a:ext cx="475488" cy="475488"/>
          </a:xfrm>
          <a:prstGeom prst="rect">
            <a:avLst/>
          </a:prstGeom>
        </p:spPr>
      </p:pic>
      <p:sp>
        <p:nvSpPr>
          <p:cNvPr id="14" name="Text 9"/>
          <p:cNvSpPr/>
          <p:nvPr/>
        </p:nvSpPr>
        <p:spPr>
          <a:xfrm>
            <a:off x="1325880" y="3392424"/>
            <a:ext cx="2926080" cy="457200"/>
          </a:xfrm>
          <a:prstGeom prst="rect">
            <a:avLst/>
          </a:prstGeom>
          <a:noFill/>
          <a:ln/>
        </p:spPr>
        <p:txBody>
          <a:bodyPr wrap="square" lIns="0" tIns="0" rIns="0" bIns="0" rtlCol="0" anchor="ctr"/>
          <a:lstStyle/>
          <a:p>
            <a:pPr marL="0" indent="0">
              <a:buNone/>
            </a:pPr>
            <a:r>
              <a:rPr lang="en-US" sz="2000" b="1" dirty="0">
                <a:solidFill>
                  <a:srgbClr val="E8A33D"/>
                </a:solidFill>
                <a:latin typeface="Cambria" pitchFamily="34" charset="0"/>
                <a:ea typeface="Cambria" pitchFamily="34" charset="-122"/>
                <a:cs typeface="Cambria" pitchFamily="34" charset="-120"/>
              </a:rPr>
              <a:t>B.1</a:t>
            </a:r>
            <a:endParaRPr lang="en-US" sz="2000" dirty="0"/>
          </a:p>
        </p:txBody>
      </p:sp>
      <p:sp>
        <p:nvSpPr>
          <p:cNvPr id="15" name="Text 10"/>
          <p:cNvSpPr/>
          <p:nvPr/>
        </p:nvSpPr>
        <p:spPr>
          <a:xfrm>
            <a:off x="749808" y="3977640"/>
            <a:ext cx="3456432" cy="548640"/>
          </a:xfrm>
          <a:prstGeom prst="rect">
            <a:avLst/>
          </a:prstGeom>
          <a:noFill/>
          <a:ln/>
        </p:spPr>
        <p:txBody>
          <a:bodyPr wrap="square" lIns="0" tIns="0" rIns="0" bIns="0" rtlCol="0" anchor="t"/>
          <a:lstStyle/>
          <a:p>
            <a:pPr marL="0" indent="0">
              <a:lnSpc>
                <a:spcPct val="103000"/>
              </a:lnSpc>
              <a:buNone/>
            </a:pPr>
            <a:r>
              <a:rPr lang="en-US" sz="1350" dirty="0">
                <a:solidFill>
                  <a:srgbClr val="DBE4F0"/>
                </a:solidFill>
                <a:latin typeface="Calibri" pitchFamily="34" charset="0"/>
                <a:ea typeface="Calibri" pitchFamily="34" charset="-122"/>
                <a:cs typeface="Calibri" pitchFamily="34" charset="-120"/>
              </a:rPr>
              <a:t>How does a Fed rate change spread through the economy?</a:t>
            </a:r>
            <a:endParaRPr lang="en-US" sz="1350" dirty="0"/>
          </a:p>
        </p:txBody>
      </p:sp>
      <p:sp>
        <p:nvSpPr>
          <p:cNvPr id="16" name="Shape 11"/>
          <p:cNvSpPr/>
          <p:nvPr/>
        </p:nvSpPr>
        <p:spPr>
          <a:xfrm>
            <a:off x="4663440" y="3136392"/>
            <a:ext cx="4023360" cy="1463040"/>
          </a:xfrm>
          <a:prstGeom prst="roundRect">
            <a:avLst>
              <a:gd name="adj" fmla="val 5000"/>
            </a:avLst>
          </a:prstGeom>
          <a:solidFill>
            <a:srgbClr val="1F3252"/>
          </a:solidFill>
          <a:ln/>
          <a:effectLst>
            <a:outerShdw blurRad="88900" dist="38100" dir="5400000" algn="bl" rotWithShape="0">
              <a:srgbClr val="000000">
                <a:alpha val="16000"/>
              </a:srgbClr>
            </a:outerShdw>
          </a:effectLst>
        </p:spPr>
      </p:sp>
      <p:pic>
        <p:nvPicPr>
          <p:cNvPr id="17" name="Image 3" descr="preencoded.png"/>
          <p:cNvPicPr>
            <a:picLocks noChangeAspect="1"/>
          </p:cNvPicPr>
          <p:nvPr/>
        </p:nvPicPr>
        <p:blipFill>
          <a:blip r:embed="rId6"/>
          <a:stretch>
            <a:fillRect/>
          </a:stretch>
        </p:blipFill>
        <p:spPr>
          <a:xfrm>
            <a:off x="4937760" y="3429000"/>
            <a:ext cx="475488" cy="475488"/>
          </a:xfrm>
          <a:prstGeom prst="rect">
            <a:avLst/>
          </a:prstGeom>
        </p:spPr>
      </p:pic>
      <p:sp>
        <p:nvSpPr>
          <p:cNvPr id="18" name="Text 12"/>
          <p:cNvSpPr/>
          <p:nvPr/>
        </p:nvSpPr>
        <p:spPr>
          <a:xfrm>
            <a:off x="5532120" y="3392424"/>
            <a:ext cx="2926080" cy="457200"/>
          </a:xfrm>
          <a:prstGeom prst="rect">
            <a:avLst/>
          </a:prstGeom>
          <a:noFill/>
          <a:ln/>
        </p:spPr>
        <p:txBody>
          <a:bodyPr wrap="square" lIns="0" tIns="0" rIns="0" bIns="0" rtlCol="0" anchor="ctr"/>
          <a:lstStyle/>
          <a:p>
            <a:pPr marL="0" indent="0">
              <a:buNone/>
            </a:pPr>
            <a:r>
              <a:rPr lang="en-US" sz="2000" b="1" dirty="0">
                <a:solidFill>
                  <a:srgbClr val="E8A33D"/>
                </a:solidFill>
                <a:latin typeface="Cambria" pitchFamily="34" charset="0"/>
                <a:ea typeface="Cambria" pitchFamily="34" charset="-122"/>
                <a:cs typeface="Cambria" pitchFamily="34" charset="-120"/>
              </a:rPr>
              <a:t>B.2</a:t>
            </a:r>
            <a:endParaRPr lang="en-US" sz="2000" dirty="0"/>
          </a:p>
        </p:txBody>
      </p:sp>
      <p:sp>
        <p:nvSpPr>
          <p:cNvPr id="19" name="Text 13"/>
          <p:cNvSpPr/>
          <p:nvPr/>
        </p:nvSpPr>
        <p:spPr>
          <a:xfrm>
            <a:off x="4956048" y="3977640"/>
            <a:ext cx="3456432" cy="548640"/>
          </a:xfrm>
          <a:prstGeom prst="rect">
            <a:avLst/>
          </a:prstGeom>
          <a:noFill/>
          <a:ln/>
        </p:spPr>
        <p:txBody>
          <a:bodyPr wrap="square" lIns="0" tIns="0" rIns="0" bIns="0" rtlCol="0" anchor="t"/>
          <a:lstStyle/>
          <a:p>
            <a:pPr marL="0" indent="0">
              <a:lnSpc>
                <a:spcPct val="103000"/>
              </a:lnSpc>
              <a:buNone/>
            </a:pPr>
            <a:r>
              <a:rPr lang="en-US" sz="1350" dirty="0">
                <a:solidFill>
                  <a:srgbClr val="DBE4F0"/>
                </a:solidFill>
                <a:latin typeface="Calibri" pitchFamily="34" charset="0"/>
                <a:ea typeface="Calibri" pitchFamily="34" charset="-122"/>
                <a:cs typeface="Calibri" pitchFamily="34" charset="-120"/>
              </a:rPr>
              <a:t>Does sentiment react more sharply to bad news than good?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713232"/>
          </a:xfrm>
          <a:prstGeom prst="rect">
            <a:avLst/>
          </a:prstGeom>
          <a:noFill/>
          <a:ln/>
        </p:spPr>
        <p:txBody>
          <a:bodyPr wrap="square" lIns="0" tIns="0" rIns="0" bIns="0" rtlCol="0" anchor="ctr"/>
          <a:lstStyle/>
          <a:p>
            <a:pPr marL="0" indent="0">
              <a:buNone/>
            </a:pPr>
            <a:r>
              <a:rPr lang="en-US" sz="2500" b="1" dirty="0">
                <a:solidFill>
                  <a:srgbClr val="1B2A45"/>
                </a:solidFill>
                <a:latin typeface="Cambria" pitchFamily="34" charset="0"/>
                <a:ea typeface="Cambria" pitchFamily="34" charset="-122"/>
                <a:cs typeface="Cambria" pitchFamily="34" charset="-120"/>
              </a:rPr>
              <a:t>Rate Peaks Lead Unemployment Peaks by ~3 Years</a:t>
            </a:r>
            <a:endParaRPr lang="en-US" sz="2500" dirty="0"/>
          </a:p>
        </p:txBody>
      </p:sp>
      <p:sp>
        <p:nvSpPr>
          <p:cNvPr id="3" name="Text 1"/>
          <p:cNvSpPr/>
          <p:nvPr/>
        </p:nvSpPr>
        <p:spPr>
          <a:xfrm>
            <a:off x="475488" y="987552"/>
            <a:ext cx="8229600" cy="384048"/>
          </a:xfrm>
          <a:prstGeom prst="rect">
            <a:avLst/>
          </a:prstGeom>
          <a:noFill/>
          <a:ln/>
        </p:spPr>
        <p:txBody>
          <a:bodyPr wrap="square" lIns="0" tIns="0" rIns="0" bIns="0" rtlCol="0" anchor="ctr"/>
          <a:lstStyle/>
          <a:p>
            <a:pPr marL="0" indent="0">
              <a:buNone/>
            </a:pPr>
            <a:r>
              <a:rPr lang="en-US" sz="1350" b="1" dirty="0">
                <a:solidFill>
                  <a:srgbClr val="E8A33D"/>
                </a:solidFill>
                <a:latin typeface="Calibri" pitchFamily="34" charset="0"/>
                <a:ea typeface="Calibri" pitchFamily="34" charset="-122"/>
                <a:cs typeface="Calibri" pitchFamily="34" charset="-120"/>
              </a:rPr>
              <a:t>Hypothesis  </a:t>
            </a:r>
            <a:r>
              <a:rPr lang="en-US" sz="1350" dirty="0">
                <a:solidFill>
                  <a:srgbClr val="5B6B82"/>
                </a:solidFill>
                <a:latin typeface="Calibri" pitchFamily="34" charset="0"/>
                <a:ea typeface="Calibri" pitchFamily="34" charset="-122"/>
                <a:cs typeface="Calibri" pitchFamily="34" charset="-120"/>
              </a:rPr>
              <a:t>How are the Fed Funds Rate and unemployment related over time?</a:t>
            </a:r>
            <a:endParaRPr lang="en-US" sz="1350" dirty="0"/>
          </a:p>
        </p:txBody>
      </p:sp>
      <p:sp>
        <p:nvSpPr>
          <p:cNvPr id="4" name="Shape 2"/>
          <p:cNvSpPr/>
          <p:nvPr/>
        </p:nvSpPr>
        <p:spPr>
          <a:xfrm>
            <a:off x="457200" y="1481328"/>
            <a:ext cx="5120640" cy="3182112"/>
          </a:xfrm>
          <a:prstGeom prst="roundRect">
            <a:avLst>
              <a:gd name="adj" fmla="val 1149"/>
            </a:avLst>
          </a:prstGeom>
          <a:solidFill>
            <a:srgbClr val="FFFFFF"/>
          </a:solidFill>
          <a:ln w="9525">
            <a:solidFill>
              <a:srgbClr val="EDF1F6"/>
            </a:solidFill>
            <a:prstDash val="solid"/>
          </a:ln>
        </p:spPr>
      </p:sp>
      <p:pic>
        <p:nvPicPr>
          <p:cNvPr id="5" name="Image 0" descr="a1_chart.png"/>
          <p:cNvPicPr>
            <a:picLocks noChangeAspect="1"/>
          </p:cNvPicPr>
          <p:nvPr/>
        </p:nvPicPr>
        <p:blipFill>
          <a:blip r:embed="rId3"/>
          <a:stretch>
            <a:fillRect/>
          </a:stretch>
        </p:blipFill>
        <p:spPr>
          <a:xfrm>
            <a:off x="457200" y="1481328"/>
            <a:ext cx="5120640" cy="3182112"/>
          </a:xfrm>
          <a:prstGeom prst="rect">
            <a:avLst/>
          </a:prstGeom>
        </p:spPr>
      </p:pic>
      <p:sp>
        <p:nvSpPr>
          <p:cNvPr id="6" name="Shape 3"/>
          <p:cNvSpPr/>
          <p:nvPr/>
        </p:nvSpPr>
        <p:spPr>
          <a:xfrm>
            <a:off x="5806440" y="1481328"/>
            <a:ext cx="2880360" cy="3182112"/>
          </a:xfrm>
          <a:prstGeom prst="roundRect">
            <a:avLst>
              <a:gd name="adj" fmla="val 2540"/>
            </a:avLst>
          </a:prstGeom>
          <a:solidFill>
            <a:srgbClr val="F2F5F9"/>
          </a:solidFill>
          <a:ln w="12700">
            <a:solidFill>
              <a:srgbClr val="DCE3EC"/>
            </a:solidFill>
            <a:prstDash val="solid"/>
          </a:ln>
          <a:effectLst>
            <a:outerShdw blurRad="88900" dist="38100" dir="5400000" algn="bl" rotWithShape="0">
              <a:srgbClr val="000000">
                <a:alpha val="16000"/>
              </a:srgbClr>
            </a:outerShdw>
          </a:effectLst>
        </p:spPr>
      </p:sp>
      <p:pic>
        <p:nvPicPr>
          <p:cNvPr id="7" name="Image 1" descr="preencoded.png"/>
          <p:cNvPicPr>
            <a:picLocks noChangeAspect="1"/>
          </p:cNvPicPr>
          <p:nvPr/>
        </p:nvPicPr>
        <p:blipFill>
          <a:blip r:embed="rId4"/>
          <a:stretch>
            <a:fillRect/>
          </a:stretch>
        </p:blipFill>
        <p:spPr>
          <a:xfrm>
            <a:off x="6062472" y="1755648"/>
            <a:ext cx="457200" cy="457200"/>
          </a:xfrm>
          <a:prstGeom prst="rect">
            <a:avLst/>
          </a:prstGeom>
        </p:spPr>
      </p:pic>
      <p:sp>
        <p:nvSpPr>
          <p:cNvPr id="8" name="Text 4"/>
          <p:cNvSpPr/>
          <p:nvPr/>
        </p:nvSpPr>
        <p:spPr>
          <a:xfrm>
            <a:off x="6583680" y="1792224"/>
            <a:ext cx="1965960" cy="365760"/>
          </a:xfrm>
          <a:prstGeom prst="rect">
            <a:avLst/>
          </a:prstGeom>
          <a:noFill/>
          <a:ln/>
        </p:spPr>
        <p:txBody>
          <a:bodyPr wrap="square" lIns="0" tIns="0" rIns="0" bIns="0" rtlCol="0" anchor="ctr"/>
          <a:lstStyle/>
          <a:p>
            <a:pPr marL="0" indent="0">
              <a:buNone/>
            </a:pPr>
            <a:r>
              <a:rPr lang="en-US" sz="1100" b="1" kern="0" spc="300" dirty="0">
                <a:solidFill>
                  <a:srgbClr val="E8A33D"/>
                </a:solidFill>
                <a:latin typeface="Calibri" pitchFamily="34" charset="0"/>
                <a:ea typeface="Calibri" pitchFamily="34" charset="-122"/>
                <a:cs typeface="Calibri" pitchFamily="34" charset="-120"/>
              </a:rPr>
              <a:t>FINDING</a:t>
            </a:r>
            <a:endParaRPr lang="en-US" sz="1100" dirty="0"/>
          </a:p>
        </p:txBody>
      </p:sp>
      <p:sp>
        <p:nvSpPr>
          <p:cNvPr id="9" name="Text 5"/>
          <p:cNvSpPr/>
          <p:nvPr/>
        </p:nvSpPr>
        <p:spPr>
          <a:xfrm>
            <a:off x="6044184" y="2350008"/>
            <a:ext cx="2423160" cy="777240"/>
          </a:xfrm>
          <a:prstGeom prst="rect">
            <a:avLst/>
          </a:prstGeom>
          <a:noFill/>
          <a:ln/>
        </p:spPr>
        <p:txBody>
          <a:bodyPr wrap="square" lIns="0" tIns="0" rIns="0" bIns="0" rtlCol="0" anchor="ctr"/>
          <a:lstStyle/>
          <a:p>
            <a:pPr marL="0" indent="0" algn="l">
              <a:buNone/>
            </a:pPr>
            <a:r>
              <a:rPr lang="en-US" sz="2800" b="1" dirty="0">
                <a:solidFill>
                  <a:srgbClr val="E8A33D"/>
                </a:solidFill>
                <a:latin typeface="Cambria" pitchFamily="34" charset="0"/>
                <a:ea typeface="Cambria" pitchFamily="34" charset="-122"/>
                <a:cs typeface="Cambria" pitchFamily="34" charset="-120"/>
              </a:rPr>
              <a:t>~32–35 months</a:t>
            </a:r>
            <a:endParaRPr lang="en-US" sz="2800" dirty="0"/>
          </a:p>
        </p:txBody>
      </p:sp>
      <p:sp>
        <p:nvSpPr>
          <p:cNvPr id="10" name="Text 6"/>
          <p:cNvSpPr/>
          <p:nvPr/>
        </p:nvSpPr>
        <p:spPr>
          <a:xfrm>
            <a:off x="6044184" y="3172968"/>
            <a:ext cx="2423160" cy="1325880"/>
          </a:xfrm>
          <a:prstGeom prst="rect">
            <a:avLst/>
          </a:prstGeom>
          <a:noFill/>
          <a:ln/>
        </p:spPr>
        <p:txBody>
          <a:bodyPr wrap="square" lIns="0" tIns="0" rIns="0" bIns="0" rtlCol="0" anchor="t"/>
          <a:lstStyle/>
          <a:p>
            <a:pPr marL="0" indent="0" algn="l">
              <a:lnSpc>
                <a:spcPct val="106000"/>
              </a:lnSpc>
              <a:buNone/>
            </a:pPr>
            <a:r>
              <a:rPr lang="en-US" sz="1300" dirty="0">
                <a:solidFill>
                  <a:srgbClr val="1B2A45"/>
                </a:solidFill>
                <a:latin typeface="Calibri" pitchFamily="34" charset="0"/>
                <a:ea typeface="Calibri" pitchFamily="34" charset="-122"/>
                <a:cs typeface="Calibri" pitchFamily="34" charset="-120"/>
              </a:rPr>
              <a:t>Each time the Fed Funds Rate peaks, unemployment peaks about 32–35 months later — the two move inversely across the cycle, with rates leading.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713232"/>
          </a:xfrm>
          <a:prstGeom prst="rect">
            <a:avLst/>
          </a:prstGeom>
          <a:noFill/>
          <a:ln/>
        </p:spPr>
        <p:txBody>
          <a:bodyPr wrap="square" lIns="0" tIns="0" rIns="0" bIns="0" rtlCol="0" anchor="ctr"/>
          <a:lstStyle/>
          <a:p>
            <a:pPr marL="0" indent="0">
              <a:buNone/>
            </a:pPr>
            <a:r>
              <a:rPr lang="en-US" sz="2500" b="1" dirty="0">
                <a:solidFill>
                  <a:srgbClr val="1B2A45"/>
                </a:solidFill>
                <a:latin typeface="Cambria" pitchFamily="34" charset="0"/>
                <a:ea typeface="Cambria" pitchFamily="34" charset="-122"/>
                <a:cs typeface="Cambria" pitchFamily="34" charset="-120"/>
              </a:rPr>
              <a:t>Every Inversion Has Preceded a Recession</a:t>
            </a:r>
            <a:endParaRPr lang="en-US" sz="2500" dirty="0"/>
          </a:p>
        </p:txBody>
      </p:sp>
      <p:sp>
        <p:nvSpPr>
          <p:cNvPr id="3" name="Text 1"/>
          <p:cNvSpPr/>
          <p:nvPr/>
        </p:nvSpPr>
        <p:spPr>
          <a:xfrm>
            <a:off x="475488" y="987552"/>
            <a:ext cx="8229600" cy="384048"/>
          </a:xfrm>
          <a:prstGeom prst="rect">
            <a:avLst/>
          </a:prstGeom>
          <a:noFill/>
          <a:ln/>
        </p:spPr>
        <p:txBody>
          <a:bodyPr wrap="square" lIns="0" tIns="0" rIns="0" bIns="0" rtlCol="0" anchor="ctr"/>
          <a:lstStyle/>
          <a:p>
            <a:pPr marL="0" indent="0">
              <a:buNone/>
            </a:pPr>
            <a:r>
              <a:rPr lang="en-US" sz="1350" b="1" dirty="0">
                <a:solidFill>
                  <a:srgbClr val="E8A33D"/>
                </a:solidFill>
                <a:latin typeface="Calibri" pitchFamily="34" charset="0"/>
                <a:ea typeface="Calibri" pitchFamily="34" charset="-122"/>
                <a:cs typeface="Calibri" pitchFamily="34" charset="-120"/>
              </a:rPr>
              <a:t>Hypothesis  </a:t>
            </a:r>
            <a:r>
              <a:rPr lang="en-US" sz="1350" dirty="0">
                <a:solidFill>
                  <a:srgbClr val="5B6B82"/>
                </a:solidFill>
                <a:latin typeface="Calibri" pitchFamily="34" charset="0"/>
                <a:ea typeface="Calibri" pitchFamily="34" charset="-122"/>
                <a:cs typeface="Calibri" pitchFamily="34" charset="-120"/>
              </a:rPr>
              <a:t>Does an inverted yield curve precede recessions?</a:t>
            </a:r>
            <a:endParaRPr lang="en-US" sz="1350" dirty="0"/>
          </a:p>
        </p:txBody>
      </p:sp>
      <p:sp>
        <p:nvSpPr>
          <p:cNvPr id="4" name="Shape 2"/>
          <p:cNvSpPr/>
          <p:nvPr/>
        </p:nvSpPr>
        <p:spPr>
          <a:xfrm>
            <a:off x="457200" y="1481328"/>
            <a:ext cx="5120640" cy="3182112"/>
          </a:xfrm>
          <a:prstGeom prst="roundRect">
            <a:avLst>
              <a:gd name="adj" fmla="val 1149"/>
            </a:avLst>
          </a:prstGeom>
          <a:solidFill>
            <a:srgbClr val="FFFFFF"/>
          </a:solidFill>
          <a:ln w="9525">
            <a:solidFill>
              <a:srgbClr val="EDF1F6"/>
            </a:solidFill>
            <a:prstDash val="solid"/>
          </a:ln>
        </p:spPr>
      </p:sp>
      <p:pic>
        <p:nvPicPr>
          <p:cNvPr id="5" name="Image 0" descr="a2_chart.png"/>
          <p:cNvPicPr>
            <a:picLocks noChangeAspect="1"/>
          </p:cNvPicPr>
          <p:nvPr/>
        </p:nvPicPr>
        <p:blipFill>
          <a:blip r:embed="rId3"/>
          <a:stretch>
            <a:fillRect/>
          </a:stretch>
        </p:blipFill>
        <p:spPr>
          <a:xfrm>
            <a:off x="692987" y="1481328"/>
            <a:ext cx="4649066" cy="3182112"/>
          </a:xfrm>
          <a:prstGeom prst="rect">
            <a:avLst/>
          </a:prstGeom>
        </p:spPr>
      </p:pic>
      <p:sp>
        <p:nvSpPr>
          <p:cNvPr id="6" name="Shape 3"/>
          <p:cNvSpPr/>
          <p:nvPr/>
        </p:nvSpPr>
        <p:spPr>
          <a:xfrm>
            <a:off x="5806440" y="1481328"/>
            <a:ext cx="2880360" cy="3182112"/>
          </a:xfrm>
          <a:prstGeom prst="roundRect">
            <a:avLst>
              <a:gd name="adj" fmla="val 2540"/>
            </a:avLst>
          </a:prstGeom>
          <a:solidFill>
            <a:srgbClr val="F2F5F9"/>
          </a:solidFill>
          <a:ln w="12700">
            <a:solidFill>
              <a:srgbClr val="DCE3EC"/>
            </a:solidFill>
            <a:prstDash val="solid"/>
          </a:ln>
          <a:effectLst>
            <a:outerShdw blurRad="88900" dist="38100" dir="5400000" algn="bl" rotWithShape="0">
              <a:srgbClr val="000000">
                <a:alpha val="16000"/>
              </a:srgbClr>
            </a:outerShdw>
          </a:effectLst>
        </p:spPr>
      </p:sp>
      <p:pic>
        <p:nvPicPr>
          <p:cNvPr id="7" name="Image 1" descr="preencoded.png"/>
          <p:cNvPicPr>
            <a:picLocks noChangeAspect="1"/>
          </p:cNvPicPr>
          <p:nvPr/>
        </p:nvPicPr>
        <p:blipFill>
          <a:blip r:embed="rId4"/>
          <a:stretch>
            <a:fillRect/>
          </a:stretch>
        </p:blipFill>
        <p:spPr>
          <a:xfrm>
            <a:off x="6062472" y="1755648"/>
            <a:ext cx="457200" cy="457200"/>
          </a:xfrm>
          <a:prstGeom prst="rect">
            <a:avLst/>
          </a:prstGeom>
        </p:spPr>
      </p:pic>
      <p:sp>
        <p:nvSpPr>
          <p:cNvPr id="8" name="Text 4"/>
          <p:cNvSpPr/>
          <p:nvPr/>
        </p:nvSpPr>
        <p:spPr>
          <a:xfrm>
            <a:off x="6583680" y="1792224"/>
            <a:ext cx="1965960" cy="365760"/>
          </a:xfrm>
          <a:prstGeom prst="rect">
            <a:avLst/>
          </a:prstGeom>
          <a:noFill/>
          <a:ln/>
        </p:spPr>
        <p:txBody>
          <a:bodyPr wrap="square" lIns="0" tIns="0" rIns="0" bIns="0" rtlCol="0" anchor="ctr"/>
          <a:lstStyle/>
          <a:p>
            <a:pPr marL="0" indent="0">
              <a:buNone/>
            </a:pPr>
            <a:r>
              <a:rPr lang="en-US" sz="1100" b="1" kern="0" spc="300" dirty="0">
                <a:solidFill>
                  <a:srgbClr val="E8A33D"/>
                </a:solidFill>
                <a:latin typeface="Calibri" pitchFamily="34" charset="0"/>
                <a:ea typeface="Calibri" pitchFamily="34" charset="-122"/>
                <a:cs typeface="Calibri" pitchFamily="34" charset="-120"/>
              </a:rPr>
              <a:t>FINDING</a:t>
            </a:r>
            <a:endParaRPr lang="en-US" sz="1100" dirty="0"/>
          </a:p>
        </p:txBody>
      </p:sp>
      <p:sp>
        <p:nvSpPr>
          <p:cNvPr id="9" name="Text 5"/>
          <p:cNvSpPr/>
          <p:nvPr/>
        </p:nvSpPr>
        <p:spPr>
          <a:xfrm>
            <a:off x="6044184" y="2350008"/>
            <a:ext cx="2423160" cy="777240"/>
          </a:xfrm>
          <a:prstGeom prst="rect">
            <a:avLst/>
          </a:prstGeom>
          <a:noFill/>
          <a:ln/>
        </p:spPr>
        <p:txBody>
          <a:bodyPr wrap="square" lIns="0" tIns="0" rIns="0" bIns="0" rtlCol="0" anchor="ctr"/>
          <a:lstStyle/>
          <a:p>
            <a:pPr marL="0" indent="0" algn="l">
              <a:buNone/>
            </a:pPr>
            <a:r>
              <a:rPr lang="en-US" sz="2800" b="1" dirty="0">
                <a:solidFill>
                  <a:srgbClr val="E8A33D"/>
                </a:solidFill>
                <a:latin typeface="Cambria" pitchFamily="34" charset="0"/>
                <a:ea typeface="Cambria" pitchFamily="34" charset="-122"/>
                <a:cs typeface="Cambria" pitchFamily="34" charset="-120"/>
              </a:rPr>
              <a:t>13–24 mo. lead</a:t>
            </a:r>
            <a:endParaRPr lang="en-US" sz="2800" dirty="0"/>
          </a:p>
        </p:txBody>
      </p:sp>
      <p:sp>
        <p:nvSpPr>
          <p:cNvPr id="10" name="Text 6"/>
          <p:cNvSpPr/>
          <p:nvPr/>
        </p:nvSpPr>
        <p:spPr>
          <a:xfrm>
            <a:off x="6044184" y="3172968"/>
            <a:ext cx="2423160" cy="1325880"/>
          </a:xfrm>
          <a:prstGeom prst="rect">
            <a:avLst/>
          </a:prstGeom>
          <a:noFill/>
          <a:ln/>
        </p:spPr>
        <p:txBody>
          <a:bodyPr wrap="square" lIns="0" tIns="0" rIns="0" bIns="0" rtlCol="0" anchor="t"/>
          <a:lstStyle/>
          <a:p>
            <a:pPr marL="0" indent="0" algn="l">
              <a:lnSpc>
                <a:spcPct val="106000"/>
              </a:lnSpc>
              <a:buNone/>
            </a:pPr>
            <a:r>
              <a:rPr lang="en-US" sz="1300" dirty="0">
                <a:solidFill>
                  <a:srgbClr val="1B2A45"/>
                </a:solidFill>
                <a:latin typeface="Calibri" pitchFamily="34" charset="0"/>
                <a:ea typeface="Calibri" pitchFamily="34" charset="-122"/>
                <a:cs typeface="Calibri" pitchFamily="34" charset="-120"/>
              </a:rPr>
              <a:t>The two completed inversions — in 2000 and 2005–07 — each preceded a recession, 13 and 24 months ahead. The curve flags each one automatically.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713232"/>
          </a:xfrm>
          <a:prstGeom prst="rect">
            <a:avLst/>
          </a:prstGeom>
          <a:noFill/>
          <a:ln/>
        </p:spPr>
        <p:txBody>
          <a:bodyPr wrap="square" lIns="0" tIns="0" rIns="0" bIns="0" rtlCol="0" anchor="ctr"/>
          <a:lstStyle/>
          <a:p>
            <a:pPr marL="0" indent="0">
              <a:buNone/>
            </a:pPr>
            <a:r>
              <a:rPr lang="en-US" sz="2500" b="1" dirty="0">
                <a:solidFill>
                  <a:srgbClr val="1B2A45"/>
                </a:solidFill>
                <a:latin typeface="Cambria" pitchFamily="34" charset="0"/>
                <a:ea typeface="Cambria" pitchFamily="34" charset="-122"/>
                <a:cs typeface="Cambria" pitchFamily="34" charset="-120"/>
              </a:rPr>
              <a:t>The Fed's Influence Spreads with a Lag</a:t>
            </a:r>
            <a:endParaRPr lang="en-US" sz="2500" dirty="0"/>
          </a:p>
        </p:txBody>
      </p:sp>
      <p:sp>
        <p:nvSpPr>
          <p:cNvPr id="3" name="Text 1"/>
          <p:cNvSpPr/>
          <p:nvPr/>
        </p:nvSpPr>
        <p:spPr>
          <a:xfrm>
            <a:off x="475488" y="987552"/>
            <a:ext cx="8229600" cy="384048"/>
          </a:xfrm>
          <a:prstGeom prst="rect">
            <a:avLst/>
          </a:prstGeom>
          <a:noFill/>
          <a:ln/>
        </p:spPr>
        <p:txBody>
          <a:bodyPr wrap="square" lIns="0" tIns="0" rIns="0" bIns="0" rtlCol="0" anchor="ctr"/>
          <a:lstStyle/>
          <a:p>
            <a:pPr marL="0" indent="0">
              <a:buNone/>
            </a:pPr>
            <a:r>
              <a:rPr lang="en-US" sz="1350" b="1" dirty="0">
                <a:solidFill>
                  <a:srgbClr val="E8A33D"/>
                </a:solidFill>
                <a:latin typeface="Calibri" pitchFamily="34" charset="0"/>
                <a:ea typeface="Calibri" pitchFamily="34" charset="-122"/>
                <a:cs typeface="Calibri" pitchFamily="34" charset="-120"/>
              </a:rPr>
              <a:t>Hypothesis  </a:t>
            </a:r>
            <a:r>
              <a:rPr lang="en-US" sz="1350" dirty="0">
                <a:solidFill>
                  <a:srgbClr val="5B6B82"/>
                </a:solidFill>
                <a:latin typeface="Calibri" pitchFamily="34" charset="0"/>
                <a:ea typeface="Calibri" pitchFamily="34" charset="-122"/>
                <a:cs typeface="Calibri" pitchFamily="34" charset="-120"/>
              </a:rPr>
              <a:t>How does a Fed rate change transmit to other variables?</a:t>
            </a:r>
            <a:endParaRPr lang="en-US" sz="1350" dirty="0"/>
          </a:p>
        </p:txBody>
      </p:sp>
      <p:sp>
        <p:nvSpPr>
          <p:cNvPr id="4" name="Shape 2"/>
          <p:cNvSpPr/>
          <p:nvPr/>
        </p:nvSpPr>
        <p:spPr>
          <a:xfrm>
            <a:off x="457200" y="1481328"/>
            <a:ext cx="5120640" cy="3182112"/>
          </a:xfrm>
          <a:prstGeom prst="roundRect">
            <a:avLst>
              <a:gd name="adj" fmla="val 1149"/>
            </a:avLst>
          </a:prstGeom>
          <a:solidFill>
            <a:srgbClr val="FFFFFF"/>
          </a:solidFill>
          <a:ln w="9525">
            <a:solidFill>
              <a:srgbClr val="EDF1F6"/>
            </a:solidFill>
            <a:prstDash val="solid"/>
          </a:ln>
        </p:spPr>
      </p:sp>
      <p:pic>
        <p:nvPicPr>
          <p:cNvPr id="5" name="Image 0" descr="b1_chart.png"/>
          <p:cNvPicPr>
            <a:picLocks noChangeAspect="1"/>
          </p:cNvPicPr>
          <p:nvPr/>
        </p:nvPicPr>
        <p:blipFill>
          <a:blip r:embed="rId3"/>
          <a:stretch>
            <a:fillRect/>
          </a:stretch>
        </p:blipFill>
        <p:spPr>
          <a:xfrm>
            <a:off x="457200" y="1911241"/>
            <a:ext cx="5120640" cy="2322286"/>
          </a:xfrm>
          <a:prstGeom prst="rect">
            <a:avLst/>
          </a:prstGeom>
        </p:spPr>
      </p:pic>
      <p:sp>
        <p:nvSpPr>
          <p:cNvPr id="6" name="Shape 3"/>
          <p:cNvSpPr/>
          <p:nvPr/>
        </p:nvSpPr>
        <p:spPr>
          <a:xfrm>
            <a:off x="5806440" y="1481328"/>
            <a:ext cx="2880360" cy="3182112"/>
          </a:xfrm>
          <a:prstGeom prst="roundRect">
            <a:avLst>
              <a:gd name="adj" fmla="val 2540"/>
            </a:avLst>
          </a:prstGeom>
          <a:solidFill>
            <a:srgbClr val="F2F5F9"/>
          </a:solidFill>
          <a:ln w="12700">
            <a:solidFill>
              <a:srgbClr val="DCE3EC"/>
            </a:solidFill>
            <a:prstDash val="solid"/>
          </a:ln>
          <a:effectLst>
            <a:outerShdw blurRad="88900" dist="38100" dir="5400000" algn="bl" rotWithShape="0">
              <a:srgbClr val="000000">
                <a:alpha val="16000"/>
              </a:srgbClr>
            </a:outerShdw>
          </a:effectLst>
        </p:spPr>
      </p:sp>
      <p:pic>
        <p:nvPicPr>
          <p:cNvPr id="7" name="Image 1" descr="preencoded.png"/>
          <p:cNvPicPr>
            <a:picLocks noChangeAspect="1"/>
          </p:cNvPicPr>
          <p:nvPr/>
        </p:nvPicPr>
        <p:blipFill>
          <a:blip r:embed="rId4"/>
          <a:stretch>
            <a:fillRect/>
          </a:stretch>
        </p:blipFill>
        <p:spPr>
          <a:xfrm>
            <a:off x="6062472" y="1755648"/>
            <a:ext cx="457200" cy="457200"/>
          </a:xfrm>
          <a:prstGeom prst="rect">
            <a:avLst/>
          </a:prstGeom>
        </p:spPr>
      </p:pic>
      <p:sp>
        <p:nvSpPr>
          <p:cNvPr id="8" name="Text 4"/>
          <p:cNvSpPr/>
          <p:nvPr/>
        </p:nvSpPr>
        <p:spPr>
          <a:xfrm>
            <a:off x="6583680" y="1792224"/>
            <a:ext cx="1965960" cy="365760"/>
          </a:xfrm>
          <a:prstGeom prst="rect">
            <a:avLst/>
          </a:prstGeom>
          <a:noFill/>
          <a:ln/>
        </p:spPr>
        <p:txBody>
          <a:bodyPr wrap="square" lIns="0" tIns="0" rIns="0" bIns="0" rtlCol="0" anchor="ctr"/>
          <a:lstStyle/>
          <a:p>
            <a:pPr marL="0" indent="0">
              <a:buNone/>
            </a:pPr>
            <a:r>
              <a:rPr lang="en-US" sz="1100" b="1" kern="0" spc="300" dirty="0">
                <a:solidFill>
                  <a:srgbClr val="E8A33D"/>
                </a:solidFill>
                <a:latin typeface="Calibri" pitchFamily="34" charset="0"/>
                <a:ea typeface="Calibri" pitchFamily="34" charset="-122"/>
                <a:cs typeface="Calibri" pitchFamily="34" charset="-120"/>
              </a:rPr>
              <a:t>FINDING</a:t>
            </a:r>
            <a:endParaRPr lang="en-US" sz="1100" dirty="0"/>
          </a:p>
        </p:txBody>
      </p:sp>
      <p:sp>
        <p:nvSpPr>
          <p:cNvPr id="9" name="Text 5"/>
          <p:cNvSpPr/>
          <p:nvPr/>
        </p:nvSpPr>
        <p:spPr>
          <a:xfrm>
            <a:off x="6044184" y="2304288"/>
            <a:ext cx="2423160" cy="502920"/>
          </a:xfrm>
          <a:prstGeom prst="rect">
            <a:avLst/>
          </a:prstGeom>
          <a:noFill/>
          <a:ln/>
        </p:spPr>
        <p:txBody>
          <a:bodyPr wrap="square" lIns="0" tIns="0" rIns="0" bIns="0" rtlCol="0" anchor="ctr"/>
          <a:lstStyle/>
          <a:p>
            <a:pPr marL="0" indent="0" algn="l">
              <a:buNone/>
            </a:pPr>
            <a:r>
              <a:rPr lang="en-US" sz="2300" b="1" dirty="0">
                <a:solidFill>
                  <a:srgbClr val="E8A33D"/>
                </a:solidFill>
                <a:latin typeface="Cambria" pitchFamily="34" charset="0"/>
                <a:ea typeface="Cambria" pitchFamily="34" charset="-122"/>
                <a:cs typeface="Cambria" pitchFamily="34" charset="-120"/>
              </a:rPr>
              <a:t>Lag 36 → 6 months</a:t>
            </a:r>
            <a:endParaRPr lang="en-US" sz="2300" dirty="0"/>
          </a:p>
        </p:txBody>
      </p:sp>
      <p:sp>
        <p:nvSpPr>
          <p:cNvPr id="10" name="Text 6"/>
          <p:cNvSpPr/>
          <p:nvPr/>
        </p:nvSpPr>
        <p:spPr>
          <a:xfrm>
            <a:off x="6062472" y="2852928"/>
            <a:ext cx="2423160" cy="1691640"/>
          </a:xfrm>
          <a:prstGeom prst="rect">
            <a:avLst/>
          </a:prstGeom>
          <a:noFill/>
          <a:ln/>
        </p:spPr>
        <p:txBody>
          <a:bodyPr wrap="square" lIns="0" tIns="0" rIns="0" bIns="0" rtlCol="0" anchor="t"/>
          <a:lstStyle/>
          <a:p>
            <a:pPr marL="152400" indent="-152400" algn="l">
              <a:spcAft>
                <a:spcPts val="700"/>
              </a:spcAft>
              <a:buSzPct val="100000"/>
              <a:buChar char="•"/>
            </a:pPr>
            <a:r>
              <a:rPr lang="en-US" sz="1100" dirty="0">
                <a:solidFill>
                  <a:srgbClr val="1B2A45"/>
                </a:solidFill>
                <a:latin typeface="Calibri" pitchFamily="34" charset="0"/>
                <a:ea typeface="Calibri" pitchFamily="34" charset="-122"/>
                <a:cs typeface="Calibri" pitchFamily="34" charset="-120"/>
              </a:rPr>
              <a:t>Unemployment confirms A.1's lag — but flips 30 months faster post-COVID (lag 6, +0.44).</a:t>
            </a:r>
            <a:endParaRPr lang="en-US" sz="1100" dirty="0"/>
          </a:p>
          <a:p>
            <a:pPr marL="152400" indent="-152400" algn="l">
              <a:spcAft>
                <a:spcPts val="700"/>
              </a:spcAft>
              <a:buSzPct val="100000"/>
              <a:buChar char="•"/>
            </a:pPr>
            <a:r>
              <a:rPr lang="en-US" sz="1100" dirty="0">
                <a:solidFill>
                  <a:srgbClr val="1B2A45"/>
                </a:solidFill>
                <a:latin typeface="Calibri" pitchFamily="34" charset="0"/>
                <a:ea typeface="Calibri" pitchFamily="34" charset="-122"/>
                <a:cs typeface="Calibri" pitchFamily="34" charset="-120"/>
              </a:rPr>
              <a:t>Inflation, the clearest mechanism: +0.37 immediately, reversing to −0.38 by lag 24.</a:t>
            </a:r>
            <a:endParaRPr lang="en-US" sz="1100" dirty="0"/>
          </a:p>
          <a:p>
            <a:pPr marL="152400" indent="-152400" algn="l">
              <a:spcAft>
                <a:spcPts val="700"/>
              </a:spcAft>
              <a:buSzPct val="100000"/>
              <a:buChar char="•"/>
            </a:pPr>
            <a:r>
              <a:rPr lang="en-US" sz="1100" dirty="0">
                <a:solidFill>
                  <a:srgbClr val="1B2A45"/>
                </a:solidFill>
                <a:latin typeface="Calibri" pitchFamily="34" charset="0"/>
                <a:ea typeface="Calibri" pitchFamily="34" charset="-122"/>
                <a:cs typeface="Calibri" pitchFamily="34" charset="-120"/>
              </a:rPr>
              <a:t>Mortgage &amp; S&amp;P 500 stay weak — markets price expectations, not realized changes.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713232"/>
          </a:xfrm>
          <a:prstGeom prst="rect">
            <a:avLst/>
          </a:prstGeom>
          <a:noFill/>
          <a:ln/>
        </p:spPr>
        <p:txBody>
          <a:bodyPr wrap="square" lIns="0" tIns="0" rIns="0" bIns="0" rtlCol="0" anchor="ctr"/>
          <a:lstStyle/>
          <a:p>
            <a:pPr marL="0" indent="0">
              <a:buNone/>
            </a:pPr>
            <a:r>
              <a:rPr lang="en-US" sz="2500" b="1" dirty="0">
                <a:solidFill>
                  <a:srgbClr val="1B2A45"/>
                </a:solidFill>
                <a:latin typeface="Cambria" pitchFamily="34" charset="0"/>
                <a:ea typeface="Cambria" pitchFamily="34" charset="-122"/>
                <a:cs typeface="Cambria" pitchFamily="34" charset="-120"/>
              </a:rPr>
              <a:t>Sentiment Reacts more sharply to Bad News — Only at the Largest Shocks</a:t>
            </a:r>
            <a:endParaRPr lang="en-US" sz="2500" dirty="0"/>
          </a:p>
        </p:txBody>
      </p:sp>
      <p:sp>
        <p:nvSpPr>
          <p:cNvPr id="3" name="Text 1"/>
          <p:cNvSpPr/>
          <p:nvPr/>
        </p:nvSpPr>
        <p:spPr>
          <a:xfrm>
            <a:off x="475488" y="987552"/>
            <a:ext cx="8229600" cy="384048"/>
          </a:xfrm>
          <a:prstGeom prst="rect">
            <a:avLst/>
          </a:prstGeom>
          <a:noFill/>
          <a:ln/>
        </p:spPr>
        <p:txBody>
          <a:bodyPr wrap="square" lIns="0" tIns="0" rIns="0" bIns="0" rtlCol="0" anchor="ctr"/>
          <a:lstStyle/>
          <a:p>
            <a:pPr marL="0" indent="0">
              <a:buNone/>
            </a:pPr>
            <a:r>
              <a:rPr lang="en-US" sz="1350" b="1" dirty="0">
                <a:solidFill>
                  <a:srgbClr val="E8A33D"/>
                </a:solidFill>
                <a:latin typeface="Calibri" pitchFamily="34" charset="0"/>
                <a:ea typeface="Calibri" pitchFamily="34" charset="-122"/>
                <a:cs typeface="Calibri" pitchFamily="34" charset="-120"/>
              </a:rPr>
              <a:t>Hypothesis  </a:t>
            </a:r>
            <a:r>
              <a:rPr lang="en-US" sz="1350" dirty="0">
                <a:solidFill>
                  <a:srgbClr val="5B6B82"/>
                </a:solidFill>
                <a:latin typeface="Calibri" pitchFamily="34" charset="0"/>
                <a:ea typeface="Calibri" pitchFamily="34" charset="-122"/>
                <a:cs typeface="Calibri" pitchFamily="34" charset="-120"/>
              </a:rPr>
              <a:t>Does sentiment react more sharply to bad news than to good of equal size?</a:t>
            </a:r>
            <a:endParaRPr lang="en-US" sz="1350" dirty="0"/>
          </a:p>
        </p:txBody>
      </p:sp>
      <p:sp>
        <p:nvSpPr>
          <p:cNvPr id="4" name="Shape 2"/>
          <p:cNvSpPr/>
          <p:nvPr/>
        </p:nvSpPr>
        <p:spPr>
          <a:xfrm>
            <a:off x="457200" y="1481328"/>
            <a:ext cx="5120640" cy="3182112"/>
          </a:xfrm>
          <a:prstGeom prst="roundRect">
            <a:avLst>
              <a:gd name="adj" fmla="val 1149"/>
            </a:avLst>
          </a:prstGeom>
          <a:solidFill>
            <a:srgbClr val="FFFFFF"/>
          </a:solidFill>
          <a:ln w="9525">
            <a:solidFill>
              <a:srgbClr val="EDF1F6"/>
            </a:solidFill>
            <a:prstDash val="solid"/>
          </a:ln>
        </p:spPr>
      </p:sp>
      <p:pic>
        <p:nvPicPr>
          <p:cNvPr id="5" name="Image 0" descr="b2_chart.png"/>
          <p:cNvPicPr>
            <a:picLocks noChangeAspect="1"/>
          </p:cNvPicPr>
          <p:nvPr/>
        </p:nvPicPr>
        <p:blipFill>
          <a:blip r:embed="rId3"/>
          <a:stretch>
            <a:fillRect/>
          </a:stretch>
        </p:blipFill>
        <p:spPr>
          <a:xfrm>
            <a:off x="549792" y="1481328"/>
            <a:ext cx="4935456" cy="3182112"/>
          </a:xfrm>
          <a:prstGeom prst="rect">
            <a:avLst/>
          </a:prstGeom>
        </p:spPr>
      </p:pic>
      <p:sp>
        <p:nvSpPr>
          <p:cNvPr id="6" name="Shape 3"/>
          <p:cNvSpPr/>
          <p:nvPr/>
        </p:nvSpPr>
        <p:spPr>
          <a:xfrm>
            <a:off x="5806440" y="1481328"/>
            <a:ext cx="2880360" cy="3182112"/>
          </a:xfrm>
          <a:prstGeom prst="roundRect">
            <a:avLst>
              <a:gd name="adj" fmla="val 2540"/>
            </a:avLst>
          </a:prstGeom>
          <a:solidFill>
            <a:srgbClr val="F2F5F9"/>
          </a:solidFill>
          <a:ln w="12700">
            <a:solidFill>
              <a:srgbClr val="DCE3EC"/>
            </a:solidFill>
            <a:prstDash val="solid"/>
          </a:ln>
          <a:effectLst>
            <a:outerShdw blurRad="88900" dist="38100" dir="5400000" algn="bl" rotWithShape="0">
              <a:srgbClr val="000000">
                <a:alpha val="16000"/>
              </a:srgbClr>
            </a:outerShdw>
          </a:effectLst>
        </p:spPr>
      </p:sp>
      <p:pic>
        <p:nvPicPr>
          <p:cNvPr id="7" name="Image 1" descr="preencoded.png"/>
          <p:cNvPicPr>
            <a:picLocks noChangeAspect="1"/>
          </p:cNvPicPr>
          <p:nvPr/>
        </p:nvPicPr>
        <p:blipFill>
          <a:blip r:embed="rId4"/>
          <a:stretch>
            <a:fillRect/>
          </a:stretch>
        </p:blipFill>
        <p:spPr>
          <a:xfrm>
            <a:off x="6062472" y="1755648"/>
            <a:ext cx="457200" cy="457200"/>
          </a:xfrm>
          <a:prstGeom prst="rect">
            <a:avLst/>
          </a:prstGeom>
        </p:spPr>
      </p:pic>
      <p:sp>
        <p:nvSpPr>
          <p:cNvPr id="8" name="Text 4"/>
          <p:cNvSpPr/>
          <p:nvPr/>
        </p:nvSpPr>
        <p:spPr>
          <a:xfrm>
            <a:off x="6583680" y="1792224"/>
            <a:ext cx="1965960" cy="365760"/>
          </a:xfrm>
          <a:prstGeom prst="rect">
            <a:avLst/>
          </a:prstGeom>
          <a:noFill/>
          <a:ln/>
        </p:spPr>
        <p:txBody>
          <a:bodyPr wrap="square" lIns="0" tIns="0" rIns="0" bIns="0" rtlCol="0" anchor="ctr"/>
          <a:lstStyle/>
          <a:p>
            <a:pPr marL="0" indent="0">
              <a:buNone/>
            </a:pPr>
            <a:r>
              <a:rPr lang="en-US" sz="1100" b="1" kern="0" spc="300" dirty="0">
                <a:solidFill>
                  <a:srgbClr val="E8A33D"/>
                </a:solidFill>
                <a:latin typeface="Calibri" pitchFamily="34" charset="0"/>
                <a:ea typeface="Calibri" pitchFamily="34" charset="-122"/>
                <a:cs typeface="Calibri" pitchFamily="34" charset="-120"/>
              </a:rPr>
              <a:t>FINDING</a:t>
            </a:r>
            <a:endParaRPr lang="en-US" sz="1100" dirty="0"/>
          </a:p>
        </p:txBody>
      </p:sp>
      <p:sp>
        <p:nvSpPr>
          <p:cNvPr id="9" name="Text 5"/>
          <p:cNvSpPr/>
          <p:nvPr/>
        </p:nvSpPr>
        <p:spPr>
          <a:xfrm>
            <a:off x="6044184" y="2350008"/>
            <a:ext cx="2423160" cy="777240"/>
          </a:xfrm>
          <a:prstGeom prst="rect">
            <a:avLst/>
          </a:prstGeom>
          <a:noFill/>
          <a:ln/>
        </p:spPr>
        <p:txBody>
          <a:bodyPr wrap="square" lIns="0" tIns="0" rIns="0" bIns="0" rtlCol="0" anchor="ctr"/>
          <a:lstStyle/>
          <a:p>
            <a:pPr marL="0" indent="0" algn="l">
              <a:buNone/>
            </a:pPr>
            <a:r>
              <a:rPr lang="en-US" sz="2800" b="1" dirty="0">
                <a:solidFill>
                  <a:srgbClr val="D62728"/>
                </a:solidFill>
                <a:latin typeface="Cambria" pitchFamily="34" charset="0"/>
                <a:ea typeface="Cambria" pitchFamily="34" charset="-122"/>
                <a:cs typeface="Cambria" pitchFamily="34" charset="-120"/>
              </a:rPr>
              <a:t>3.4 vs 2.1</a:t>
            </a:r>
            <a:endParaRPr lang="en-US" sz="2800" dirty="0"/>
          </a:p>
        </p:txBody>
      </p:sp>
      <p:sp>
        <p:nvSpPr>
          <p:cNvPr id="10" name="Text 6"/>
          <p:cNvSpPr/>
          <p:nvPr/>
        </p:nvSpPr>
        <p:spPr>
          <a:xfrm>
            <a:off x="6044184" y="3172968"/>
            <a:ext cx="2423160" cy="1325880"/>
          </a:xfrm>
          <a:prstGeom prst="rect">
            <a:avLst/>
          </a:prstGeom>
          <a:noFill/>
          <a:ln/>
        </p:spPr>
        <p:txBody>
          <a:bodyPr wrap="square" lIns="0" tIns="0" rIns="0" bIns="0" rtlCol="0" anchor="t"/>
          <a:lstStyle/>
          <a:p>
            <a:pPr marL="0" indent="0" algn="l">
              <a:lnSpc>
                <a:spcPct val="106000"/>
              </a:lnSpc>
              <a:buNone/>
            </a:pPr>
            <a:r>
              <a:rPr lang="en-US" sz="1300" dirty="0">
                <a:solidFill>
                  <a:srgbClr val="1B2A45"/>
                </a:solidFill>
                <a:latin typeface="Calibri" pitchFamily="34" charset="0"/>
                <a:ea typeface="Calibri" pitchFamily="34" charset="-122"/>
                <a:cs typeface="Calibri" pitchFamily="34" charset="-120"/>
              </a:rPr>
              <a:t>At the largest shocks the sharper drop to bad news is statistically significant; the smaller bins are indistinguishable from noise.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3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29184"/>
            <a:ext cx="457200" cy="457200"/>
          </a:xfrm>
          <a:prstGeom prst="rect">
            <a:avLst/>
          </a:prstGeom>
        </p:spPr>
      </p:pic>
      <p:sp>
        <p:nvSpPr>
          <p:cNvPr id="3" name="Text 0"/>
          <p:cNvSpPr/>
          <p:nvPr/>
        </p:nvSpPr>
        <p:spPr>
          <a:xfrm>
            <a:off x="1005840" y="310896"/>
            <a:ext cx="7315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We Found</a:t>
            </a:r>
            <a:endParaRPr lang="en-US" sz="3000" dirty="0"/>
          </a:p>
        </p:txBody>
      </p:sp>
      <p:pic>
        <p:nvPicPr>
          <p:cNvPr id="4" name="Image 1" descr="preencoded.png"/>
          <p:cNvPicPr>
            <a:picLocks noChangeAspect="1"/>
          </p:cNvPicPr>
          <p:nvPr/>
        </p:nvPicPr>
        <p:blipFill>
          <a:blip r:embed="rId4"/>
          <a:stretch>
            <a:fillRect/>
          </a:stretch>
        </p:blipFill>
        <p:spPr>
          <a:xfrm>
            <a:off x="548640" y="1207008"/>
            <a:ext cx="292608" cy="292608"/>
          </a:xfrm>
          <a:prstGeom prst="rect">
            <a:avLst/>
          </a:prstGeom>
        </p:spPr>
      </p:pic>
      <p:sp>
        <p:nvSpPr>
          <p:cNvPr id="5" name="Text 1"/>
          <p:cNvSpPr/>
          <p:nvPr/>
        </p:nvSpPr>
        <p:spPr>
          <a:xfrm>
            <a:off x="960120" y="1170432"/>
            <a:ext cx="7680960" cy="411480"/>
          </a:xfrm>
          <a:prstGeom prst="rect">
            <a:avLst/>
          </a:prstGeom>
          <a:noFill/>
          <a:ln/>
        </p:spPr>
        <p:txBody>
          <a:bodyPr wrap="square" lIns="0" tIns="0" rIns="0" bIns="0" rtlCol="0" anchor="ctr"/>
          <a:lstStyle/>
          <a:p>
            <a:pPr marL="0" indent="0">
              <a:buNone/>
            </a:pPr>
            <a:r>
              <a:rPr lang="en-US" sz="1550" dirty="0">
                <a:solidFill>
                  <a:srgbClr val="E4EAF3"/>
                </a:solidFill>
                <a:latin typeface="Calibri" pitchFamily="34" charset="0"/>
                <a:ea typeface="Calibri" pitchFamily="34" charset="-122"/>
                <a:cs typeface="Calibri" pitchFamily="34" charset="-120"/>
              </a:rPr>
              <a:t>Rate peaks lead unemployment peaks by about three years.</a:t>
            </a:r>
            <a:endParaRPr lang="en-US" sz="1550" dirty="0"/>
          </a:p>
        </p:txBody>
      </p:sp>
      <p:pic>
        <p:nvPicPr>
          <p:cNvPr id="6" name="Image 2" descr="preencoded.png"/>
          <p:cNvPicPr>
            <a:picLocks noChangeAspect="1"/>
          </p:cNvPicPr>
          <p:nvPr/>
        </p:nvPicPr>
        <p:blipFill>
          <a:blip r:embed="rId4"/>
          <a:stretch>
            <a:fillRect/>
          </a:stretch>
        </p:blipFill>
        <p:spPr>
          <a:xfrm>
            <a:off x="548640" y="1773936"/>
            <a:ext cx="292608" cy="292608"/>
          </a:xfrm>
          <a:prstGeom prst="rect">
            <a:avLst/>
          </a:prstGeom>
        </p:spPr>
      </p:pic>
      <p:sp>
        <p:nvSpPr>
          <p:cNvPr id="7" name="Text 2"/>
          <p:cNvSpPr/>
          <p:nvPr/>
        </p:nvSpPr>
        <p:spPr>
          <a:xfrm>
            <a:off x="960120" y="1737360"/>
            <a:ext cx="7680960" cy="411480"/>
          </a:xfrm>
          <a:prstGeom prst="rect">
            <a:avLst/>
          </a:prstGeom>
          <a:noFill/>
          <a:ln/>
        </p:spPr>
        <p:txBody>
          <a:bodyPr wrap="square" lIns="0" tIns="0" rIns="0" bIns="0" rtlCol="0" anchor="ctr"/>
          <a:lstStyle/>
          <a:p>
            <a:pPr marL="0" indent="0">
              <a:buNone/>
            </a:pPr>
            <a:r>
              <a:rPr lang="en-US" sz="1550" dirty="0">
                <a:solidFill>
                  <a:srgbClr val="E4EAF3"/>
                </a:solidFill>
                <a:latin typeface="Calibri" pitchFamily="34" charset="0"/>
                <a:ea typeface="Calibri" pitchFamily="34" charset="-122"/>
                <a:cs typeface="Calibri" pitchFamily="34" charset="-120"/>
              </a:rPr>
              <a:t>Every yield-curve inversion has preceded a recession.</a:t>
            </a:r>
            <a:endParaRPr lang="en-US" sz="1550" dirty="0"/>
          </a:p>
        </p:txBody>
      </p:sp>
      <p:pic>
        <p:nvPicPr>
          <p:cNvPr id="8" name="Image 3" descr="preencoded.png"/>
          <p:cNvPicPr>
            <a:picLocks noChangeAspect="1"/>
          </p:cNvPicPr>
          <p:nvPr/>
        </p:nvPicPr>
        <p:blipFill>
          <a:blip r:embed="rId4"/>
          <a:stretch>
            <a:fillRect/>
          </a:stretch>
        </p:blipFill>
        <p:spPr>
          <a:xfrm>
            <a:off x="548640" y="2340864"/>
            <a:ext cx="292608" cy="292608"/>
          </a:xfrm>
          <a:prstGeom prst="rect">
            <a:avLst/>
          </a:prstGeom>
        </p:spPr>
      </p:pic>
      <p:sp>
        <p:nvSpPr>
          <p:cNvPr id="9" name="Text 3"/>
          <p:cNvSpPr/>
          <p:nvPr/>
        </p:nvSpPr>
        <p:spPr>
          <a:xfrm>
            <a:off x="960120" y="2304288"/>
            <a:ext cx="7680960" cy="411480"/>
          </a:xfrm>
          <a:prstGeom prst="rect">
            <a:avLst/>
          </a:prstGeom>
          <a:noFill/>
          <a:ln/>
        </p:spPr>
        <p:txBody>
          <a:bodyPr wrap="square" lIns="0" tIns="0" rIns="0" bIns="0" rtlCol="0" anchor="ctr"/>
          <a:lstStyle/>
          <a:p>
            <a:pPr marL="0" indent="0">
              <a:buNone/>
            </a:pPr>
            <a:r>
              <a:rPr lang="en-US" sz="1550" dirty="0">
                <a:solidFill>
                  <a:srgbClr val="E4EAF3"/>
                </a:solidFill>
                <a:latin typeface="Calibri" pitchFamily="34" charset="0"/>
                <a:ea typeface="Calibri" pitchFamily="34" charset="-122"/>
                <a:cs typeface="Calibri" pitchFamily="34" charset="-120"/>
              </a:rPr>
              <a:t>The Fed's influence spreads with a lag — and faster in the modern era.</a:t>
            </a:r>
            <a:endParaRPr lang="en-US" sz="1550" dirty="0"/>
          </a:p>
        </p:txBody>
      </p:sp>
      <p:pic>
        <p:nvPicPr>
          <p:cNvPr id="10" name="Image 4" descr="preencoded.png"/>
          <p:cNvPicPr>
            <a:picLocks noChangeAspect="1"/>
          </p:cNvPicPr>
          <p:nvPr/>
        </p:nvPicPr>
        <p:blipFill>
          <a:blip r:embed="rId4"/>
          <a:stretch>
            <a:fillRect/>
          </a:stretch>
        </p:blipFill>
        <p:spPr>
          <a:xfrm>
            <a:off x="548640" y="2907792"/>
            <a:ext cx="292608" cy="292608"/>
          </a:xfrm>
          <a:prstGeom prst="rect">
            <a:avLst/>
          </a:prstGeom>
        </p:spPr>
      </p:pic>
      <p:sp>
        <p:nvSpPr>
          <p:cNvPr id="11" name="Text 4"/>
          <p:cNvSpPr/>
          <p:nvPr/>
        </p:nvSpPr>
        <p:spPr>
          <a:xfrm>
            <a:off x="960120" y="2871216"/>
            <a:ext cx="7680960" cy="411480"/>
          </a:xfrm>
          <a:prstGeom prst="rect">
            <a:avLst/>
          </a:prstGeom>
          <a:noFill/>
          <a:ln/>
        </p:spPr>
        <p:txBody>
          <a:bodyPr wrap="square" lIns="0" tIns="0" rIns="0" bIns="0" rtlCol="0" anchor="ctr"/>
          <a:lstStyle/>
          <a:p>
            <a:pPr marL="0" indent="0">
              <a:buNone/>
            </a:pPr>
            <a:r>
              <a:rPr lang="en-US" sz="1550" dirty="0">
                <a:solidFill>
                  <a:srgbClr val="E4EAF3"/>
                </a:solidFill>
                <a:latin typeface="Calibri" pitchFamily="34" charset="0"/>
                <a:ea typeface="Calibri" pitchFamily="34" charset="-122"/>
                <a:cs typeface="Calibri" pitchFamily="34" charset="-120"/>
              </a:rPr>
              <a:t>Sentiment reacts more to bad news — but only at the largest shocks.</a:t>
            </a:r>
            <a:endParaRPr lang="en-US" sz="1550" dirty="0"/>
          </a:p>
        </p:txBody>
      </p:sp>
      <p:sp>
        <p:nvSpPr>
          <p:cNvPr id="12" name="Shape 5"/>
          <p:cNvSpPr/>
          <p:nvPr/>
        </p:nvSpPr>
        <p:spPr>
          <a:xfrm>
            <a:off x="457200" y="3611880"/>
            <a:ext cx="8229600" cy="1097280"/>
          </a:xfrm>
          <a:prstGeom prst="roundRect">
            <a:avLst>
              <a:gd name="adj" fmla="val 6667"/>
            </a:avLst>
          </a:prstGeom>
          <a:solidFill>
            <a:srgbClr val="1F3252"/>
          </a:solidFill>
          <a:ln/>
          <a:effectLst>
            <a:outerShdw blurRad="88900" dist="38100" dir="5400000" algn="bl" rotWithShape="0">
              <a:srgbClr val="000000">
                <a:alpha val="16000"/>
              </a:srgbClr>
            </a:outerShdw>
          </a:effectLst>
        </p:spPr>
      </p:sp>
      <p:sp>
        <p:nvSpPr>
          <p:cNvPr id="13" name="Text 6"/>
          <p:cNvSpPr/>
          <p:nvPr/>
        </p:nvSpPr>
        <p:spPr>
          <a:xfrm>
            <a:off x="777240" y="3703320"/>
            <a:ext cx="7589520" cy="914400"/>
          </a:xfrm>
          <a:prstGeom prst="rect">
            <a:avLst/>
          </a:prstGeom>
          <a:noFill/>
          <a:ln/>
        </p:spPr>
        <p:txBody>
          <a:bodyPr wrap="square" lIns="0" tIns="0" rIns="0" bIns="0" rtlCol="0" anchor="ctr"/>
          <a:lstStyle/>
          <a:p>
            <a:pPr marL="0" indent="0">
              <a:lnSpc>
                <a:spcPct val="108000"/>
              </a:lnSpc>
              <a:buNone/>
            </a:pPr>
            <a:r>
              <a:rPr lang="en-US" sz="1500" b="1" dirty="0">
                <a:solidFill>
                  <a:srgbClr val="E8A33D"/>
                </a:solidFill>
                <a:latin typeface="Calibri" pitchFamily="34" charset="0"/>
                <a:ea typeface="Calibri" pitchFamily="34" charset="-122"/>
                <a:cs typeface="Calibri" pitchFamily="34" charset="-120"/>
              </a:rPr>
              <a:t>The thread:  </a:t>
            </a:r>
            <a:r>
              <a:rPr lang="en-US" sz="1500" dirty="0">
                <a:solidFill>
                  <a:srgbClr val="E4EAF3"/>
                </a:solidFill>
                <a:latin typeface="Calibri" pitchFamily="34" charset="0"/>
                <a:ea typeface="Calibri" pitchFamily="34" charset="-122"/>
                <a:cs typeface="Calibri" pitchFamily="34" charset="-120"/>
              </a:rPr>
              <a:t>we showed not just where effects exist, but where they don't — letting the data say only what it can support.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33B"/>
        </a:solidFill>
        <a:effectLst/>
      </p:bgPr>
    </p:bg>
    <p:spTree>
      <p:nvGrpSpPr>
        <p:cNvPr id="1" name=""/>
        <p:cNvGrpSpPr/>
        <p:nvPr/>
      </p:nvGrpSpPr>
      <p:grpSpPr>
        <a:xfrm>
          <a:off x="0" y="0"/>
          <a:ext cx="0" cy="0"/>
          <a:chOff x="0" y="0"/>
          <a:chExt cx="0" cy="0"/>
        </a:xfrm>
      </p:grpSpPr>
      <p:sp>
        <p:nvSpPr>
          <p:cNvPr id="2" name="Shape 0"/>
          <p:cNvSpPr/>
          <p:nvPr/>
        </p:nvSpPr>
        <p:spPr>
          <a:xfrm>
            <a:off x="-914400" y="3657600"/>
            <a:ext cx="2651760" cy="2651760"/>
          </a:xfrm>
          <a:prstGeom prst="ellipse">
            <a:avLst/>
          </a:prstGeom>
          <a:solidFill>
            <a:srgbClr val="1F3252"/>
          </a:solidFill>
          <a:ln/>
        </p:spPr>
      </p:sp>
      <p:sp>
        <p:nvSpPr>
          <p:cNvPr id="3" name="Text 1"/>
          <p:cNvSpPr/>
          <p:nvPr/>
        </p:nvSpPr>
        <p:spPr>
          <a:xfrm>
            <a:off x="731520" y="1691640"/>
            <a:ext cx="768096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2"/>
          <p:cNvSpPr/>
          <p:nvPr/>
        </p:nvSpPr>
        <p:spPr>
          <a:xfrm>
            <a:off x="731520" y="2697480"/>
            <a:ext cx="7680960" cy="411480"/>
          </a:xfrm>
          <a:prstGeom prst="rect">
            <a:avLst/>
          </a:prstGeom>
          <a:noFill/>
          <a:ln/>
        </p:spPr>
        <p:txBody>
          <a:bodyPr wrap="square" lIns="0" tIns="0" rIns="0" bIns="0" rtlCol="0" anchor="ctr"/>
          <a:lstStyle/>
          <a:p>
            <a:pPr marL="0" indent="0" algn="ctr">
              <a:buNone/>
            </a:pPr>
            <a:r>
              <a:rPr lang="en-US" sz="1600" dirty="0">
                <a:solidFill>
                  <a:srgbClr val="C7D3E5"/>
                </a:solidFill>
                <a:latin typeface="Calibri" pitchFamily="34" charset="0"/>
                <a:ea typeface="Calibri" pitchFamily="34" charset="-122"/>
                <a:cs typeface="Calibri" pitchFamily="34" charset="-120"/>
              </a:rPr>
              <a:t>Team Bounty </a:t>
            </a:r>
            <a:r>
              <a:rPr lang="en-US" sz="1600">
                <a:solidFill>
                  <a:srgbClr val="C7D3E5"/>
                </a:solidFill>
                <a:latin typeface="Calibri" pitchFamily="34" charset="0"/>
                <a:ea typeface="Calibri" pitchFamily="34" charset="-122"/>
                <a:cs typeface="Calibri" pitchFamily="34" charset="-120"/>
              </a:rPr>
              <a:t>Hunters  </a:t>
            </a:r>
            <a:endParaRPr lang="en-US" sz="1600" dirty="0"/>
          </a:p>
        </p:txBody>
      </p:sp>
      <p:sp>
        <p:nvSpPr>
          <p:cNvPr id="5" name="Text 3"/>
          <p:cNvSpPr/>
          <p:nvPr/>
        </p:nvSpPr>
        <p:spPr>
          <a:xfrm>
            <a:off x="457200" y="3200400"/>
            <a:ext cx="8229600" cy="365760"/>
          </a:xfrm>
          <a:prstGeom prst="rect">
            <a:avLst/>
          </a:prstGeom>
          <a:noFill/>
          <a:ln/>
        </p:spPr>
        <p:txBody>
          <a:bodyPr wrap="square" lIns="0" tIns="0" rIns="0" bIns="0" rtlCol="0" anchor="ctr"/>
          <a:lstStyle/>
          <a:p>
            <a:pPr marL="0" indent="0" algn="ctr">
              <a:buNone/>
            </a:pPr>
            <a:r>
              <a:rPr lang="en-US" sz="1250" dirty="0">
                <a:solidFill>
                  <a:srgbClr val="E8A33D"/>
                </a:solidFill>
                <a:latin typeface="Calibri" pitchFamily="34" charset="0"/>
                <a:ea typeface="Calibri" pitchFamily="34" charset="-122"/>
                <a:cs typeface="Calibri" pitchFamily="34" charset="-120"/>
              </a:rPr>
              <a:t>github.com/jku-icg-classroom/visualization-ss26-lab-assignment-bounty-hunters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1252</Words>
  <Application>Microsoft Office PowerPoint</Application>
  <PresentationFormat>On-screen Show (16:9)</PresentationFormat>
  <Paragraphs>83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Bounty Hunters — Visualization Project</dc:title>
  <dc:subject>PptxGenJS Presentation</dc:subject>
  <dc:creator>Saqib</dc:creator>
  <cp:lastModifiedBy>Saqib Ali Khan</cp:lastModifiedBy>
  <cp:revision>2</cp:revision>
  <dcterms:created xsi:type="dcterms:W3CDTF">2026-06-22T20:20:05Z</dcterms:created>
  <dcterms:modified xsi:type="dcterms:W3CDTF">2026-06-22T20:29:55Z</dcterms:modified>
</cp:coreProperties>
</file>